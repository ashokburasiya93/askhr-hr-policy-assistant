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196EA4-DBB4-5536-79FC-275EE4E3023B}">
          <p14:sldIdLst>
            <p14:sldId id="256"/>
          </p14:sldIdLst>
        </p14:section>
        <p14:section name="Problem and discovery" id="{81B4AA46-E673-4C30-BE1C-7363162F0671}">
          <p14:sldIdLst>
            <p14:sldId id="257"/>
            <p14:sldId id="258"/>
            <p14:sldId id="259"/>
            <p14:sldId id="260"/>
          </p14:sldIdLst>
        </p14:section>
        <p14:section name="Opportunity and solution" id="{B08C03E8-BC5E-488F-A35F-73B39605E848}">
          <p14:sldIdLst>
            <p14:sldId id="261"/>
            <p14:sldId id="262"/>
          </p14:sldIdLst>
        </p14:section>
        <p14:section name="Walkthrough" id="{1DB20706-5B45-C3AD-243A-221ABD3FBDB5}">
          <p14:sldIdLst>
            <p14:sldId id="263"/>
            <p14:sldId id="264"/>
            <p14:sldId id="265"/>
          </p14:sldIdLst>
        </p14:section>
        <p14:section name="Metrics" id="{B18A3ACF-CED0-CDE1-881B-B06575CDF4F3}">
          <p14:sldIdLst>
            <p14:sldId id="266"/>
            <p14:sldId id="267"/>
            <p14:sldId id="268"/>
          </p14:sldIdLst>
        </p14:section>
        <p14:section name="Risks and rollout" id="{85A5B787-EDFA-0C9D-1831-885F91609322}">
          <p14:sldIdLst>
            <p14:sldId id="269"/>
            <p14:sldId id="270"/>
          </p14:sldIdLst>
        </p14:section>
        <p14:section name="Close" id="{E05CCE7A-D733-7A90-159D-B9DB2FBC744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kumar Burasiya" userId="6c65fcc71791bb75" providerId="LiveId" clId="{2969D9B0-A6E8-4A1F-AC99-DE5940C8EB97}"/>
    <pc:docChg chg="modSld">
      <pc:chgData name="Ashokkumar Burasiya" userId="6c65fcc71791bb75" providerId="LiveId" clId="{2969D9B0-A6E8-4A1F-AC99-DE5940C8EB97}" dt="2026-10-23T15:10:41.212" v="20" actId="20577"/>
      <pc:docMkLst>
        <pc:docMk/>
      </pc:docMkLst>
      <pc:sldChg chg="modSp">
        <pc:chgData name="Ashokkumar Burasiya" userId="6c65fcc71791bb75" providerId="LiveId" clId="{2969D9B0-A6E8-4A1F-AC99-DE5940C8EB97}" dt="2026-10-23T15:10:41.212" v="20" actId="20577"/>
        <pc:sldMkLst>
          <pc:docMk/>
          <pc:sldMk cId="0" sldId="256"/>
        </pc:sldMkLst>
        <pc:spChg chg="mod">
          <ac:chgData name="Ashokkumar Burasiya" userId="6c65fcc71791bb75" providerId="LiveId" clId="{2969D9B0-A6E8-4A1F-AC99-DE5940C8EB97}" dt="2026-10-23T15:10:41.212" v="20" actId="20577"/>
          <ac:spMkLst>
            <pc:docMk/>
            <pc:sldMk cId="0" sldId="25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a:t>Impact x feasibility score (max 25)</a:t>
            </a:r>
          </a:p>
        </c:rich>
      </c:tx>
      <c:layout/>
      <c:overlay val="0"/>
    </c:title>
    <c:autoTitleDeleted val="0"/>
    <c:plotArea>
      <c:barChart>
        <c:barDir val="bar"/>
        <c:grouping val="clustered"/>
        <c:ser>
          <c:idx val="0"/>
          <c:order val="0"/>
          <c:tx>
            <c:strRef>
              <c:f>Sheet1!$B$1</c:f>
              <c:strCache>
                <c:ptCount val="1"/>
                <c:pt idx="0">
                  <c:v>Do first (MVP)</c:v>
                </c:pt>
              </c:strCache>
            </c:strRef>
          </c:tx>
          <c:spPr>
            <a:solidFill>
              <a:srgbClr val="0F766E"/>
            </a:solidFill>
          </c:spPr>
          <c:cat>
            <c:strRef>
              <c:f>Sheet1!$A$2:$A$16</c:f>
              <c:strCache>
                <c:ptCount val="15"/>
                <c:pt idx="0">
                  <c:v>O15 Attrition prediction from chats</c:v>
                </c:pt>
                <c:pt idx="1">
                  <c:v>O14 AI handles grievances / legal</c:v>
                </c:pt>
                <c:pt idx="2">
                  <c:v>O13 Auto-answer from old tickets</c:v>
                </c:pt>
                <c:pt idx="3">
                  <c:v>O12 Peak-season nudges</c:v>
                </c:pt>
                <c:pt idx="4">
                  <c:v>O11 Gap and conflict detector</c:v>
                </c:pt>
                <c:pt idx="5">
                  <c:v>O10 HRBP draft replies</c:v>
                </c:pt>
                <c:pt idx="6">
                  <c:v>O9 Hindi / Hinglish answers</c:v>
                </c:pt>
                <c:pt idx="7">
                  <c:v>O8 Leave balance lookup</c:v>
                </c:pt>
                <c:pt idx="8">
                  <c:v>O4 Policy publishing with metadata</c:v>
                </c:pt>
                <c:pt idx="9">
                  <c:v>O7 Privacy redaction</c:v>
                </c:pt>
                <c:pt idx="10">
                  <c:v>O6 Sensitive triage and hand-off</c:v>
                </c:pt>
                <c:pt idx="11">
                  <c:v>O3 Version-aware retrieval</c:v>
                </c:pt>
                <c:pt idx="12">
                  <c:v>O1 Grounded answers in Teams</c:v>
                </c:pt>
                <c:pt idx="13">
                  <c:v>O5 Answer verification guard</c:v>
                </c:pt>
                <c:pt idx="14">
                  <c:v>O2 Profile-aware eligibility filter</c:v>
                </c:pt>
              </c:strCache>
            </c:strRef>
          </c:cat>
          <c:val>
            <c:numRef>
              <c:f>Sheet1!$B$2:$B$16</c:f>
              <c:numCache>
                <c:formatCode>General</c:formatCode>
                <c:ptCount val="15"/>
                <c:pt idx="8">
                  <c:v>16</c:v>
                </c:pt>
                <c:pt idx="9">
                  <c:v>20</c:v>
                </c:pt>
                <c:pt idx="10">
                  <c:v>20</c:v>
                </c:pt>
                <c:pt idx="11">
                  <c:v>20</c:v>
                </c:pt>
                <c:pt idx="12">
                  <c:v>20</c:v>
                </c:pt>
                <c:pt idx="13">
                  <c:v>25</c:v>
                </c:pt>
                <c:pt idx="14">
                  <c:v>25</c:v>
                </c:pt>
              </c:numCache>
            </c:numRef>
          </c:val>
        </c:ser>
        <c:ser>
          <c:idx val="1"/>
          <c:order val="1"/>
          <c:tx>
            <c:strRef>
              <c:f>Sheet1!$C$1</c:f>
              <c:strCache>
                <c:ptCount val="1"/>
                <c:pt idx="0">
                  <c:v>Later or parked</c:v>
                </c:pt>
              </c:strCache>
            </c:strRef>
          </c:tx>
          <c:spPr>
            <a:solidFill>
              <a:srgbClr val="B8C4C2"/>
            </a:solidFill>
          </c:spPr>
          <c:cat>
            <c:strRef>
              <c:f>Sheet1!$A$2:$A$16</c:f>
              <c:strCache>
                <c:ptCount val="15"/>
                <c:pt idx="0">
                  <c:v>O15 Attrition prediction from chats</c:v>
                </c:pt>
                <c:pt idx="1">
                  <c:v>O14 AI handles grievances / legal</c:v>
                </c:pt>
                <c:pt idx="2">
                  <c:v>O13 Auto-answer from old tickets</c:v>
                </c:pt>
                <c:pt idx="3">
                  <c:v>O12 Peak-season nudges</c:v>
                </c:pt>
                <c:pt idx="4">
                  <c:v>O11 Gap and conflict detector</c:v>
                </c:pt>
                <c:pt idx="5">
                  <c:v>O10 HRBP draft replies</c:v>
                </c:pt>
                <c:pt idx="6">
                  <c:v>O9 Hindi / Hinglish answers</c:v>
                </c:pt>
                <c:pt idx="7">
                  <c:v>O8 Leave balance lookup</c:v>
                </c:pt>
                <c:pt idx="8">
                  <c:v>O4 Policy publishing with metadata</c:v>
                </c:pt>
                <c:pt idx="9">
                  <c:v>O7 Privacy redaction</c:v>
                </c:pt>
                <c:pt idx="10">
                  <c:v>O6 Sensitive triage and hand-off</c:v>
                </c:pt>
                <c:pt idx="11">
                  <c:v>O3 Version-aware retrieval</c:v>
                </c:pt>
                <c:pt idx="12">
                  <c:v>O1 Grounded answers in Teams</c:v>
                </c:pt>
                <c:pt idx="13">
                  <c:v>O5 Answer verification guard</c:v>
                </c:pt>
                <c:pt idx="14">
                  <c:v>O2 Profile-aware eligibility filter</c:v>
                </c:pt>
              </c:strCache>
            </c:strRef>
          </c:cat>
          <c:val>
            <c:numRef>
              <c:f>Sheet1!$C$2:$C$16</c:f>
              <c:numCache>
                <c:formatCode>General</c:formatCode>
                <c:ptCount val="15"/>
                <c:pt idx="0">
                  <c:v>2</c:v>
                </c:pt>
                <c:pt idx="1">
                  <c:v>2</c:v>
                </c:pt>
                <c:pt idx="2">
                  <c:v>4</c:v>
                </c:pt>
                <c:pt idx="3">
                  <c:v>12</c:v>
                </c:pt>
                <c:pt idx="4">
                  <c:v>12</c:v>
                </c:pt>
                <c:pt idx="5">
                  <c:v>12</c:v>
                </c:pt>
                <c:pt idx="6">
                  <c:v>12</c:v>
                </c:pt>
                <c:pt idx="7">
                  <c:v>12</c:v>
                </c:pt>
              </c:numCache>
            </c:numRef>
          </c:val>
        </c:ser>
        <c:dLbls>
          <c:txPr>
            <a:bodyPr/>
            <a:lstStyle/>
            <a:p>
              <a:pPr>
                <a:defRPr sz="900"/>
              </a:pPr>
            </a:p>
          </c:txPr>
          <c:dLblPos val="outEnd"/>
          <c:showLegendKey val="0"/>
          <c:showVal val="1"/>
          <c:showCatName val="0"/>
          <c:showSerName val="0"/>
          <c:showPercent val="0"/>
          <c:showBubbleSize val="0"/>
          <c:showLeaderLines val="1"/>
        </c:dLbls>
        <c:gapWidth val="45"/>
        <c:overlap val="10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950"/>
            </a:pPr>
          </a:p>
        </c:txPr>
        <c:crossAx val="-2113994440"/>
        <c:crosses val="autoZero"/>
        <c:auto val="1"/>
        <c:lblAlgn val="ctr"/>
        <c:lblOffset val="100"/>
        <c:noMultiLvlLbl val="0"/>
      </c:catAx>
      <c:valAx>
        <c:axId val="-2113994440"/>
        <c:scaling>
          <c:max val="25.0"/>
        </c:scaling>
        <c:delete/>
        <c:axPos val="b"/>
        <c:majorTickMark val="out"/>
        <c:minorTickMark val="none"/>
        <c:tickLblPos val="nextTo"/>
        <c:crossAx val="-2068027336"/>
        <c:crosses val="autoZero"/>
      </c:valAx>
    </c:plotArea>
    <c:legend>
      <c:legendPos val="b"/>
      <c:overlay val="0"/>
    </c:legend>
    <c:dispBlanksAs val="gap"/>
  </c:chart>
  <c:txPr>
    <a:bodyPr/>
    <a:lstStyle/>
    <a:p>
      <a:pPr>
        <a:defRPr sz="1000">
          <a:solidFill>
            <a:srgbClr val="1D2B3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a:t>Share of policy questions resolved with no HR partner, no hand-off or thumbs-down in 7 days</a:t>
            </a:r>
          </a:p>
        </c:rich>
      </c:tx>
      <c:layout/>
      <c:overlay val="0"/>
    </c:title>
    <c:autoTitleDeleted val="0"/>
    <c:plotArea>
      <c:barChart>
        <c:barDir val="col"/>
        <c:grouping val="clustered"/>
        <c:ser>
          <c:idx val="0"/>
          <c:order val="0"/>
          <c:tx>
            <c:strRef>
              <c:f>Sheet1!$B$1</c:f>
              <c:strCache>
                <c:ptCount val="1"/>
                <c:pt idx="0">
                  <c:v>Correctly resolved self-service rate</c:v>
                </c:pt>
              </c:strCache>
            </c:strRef>
          </c:tx>
          <c:spPr>
            <a:solidFill>
              <a:srgbClr val="0F766E"/>
            </a:solidFill>
          </c:spPr>
          <c:cat>
            <c:strRef>
              <c:f>Sheet1!$A$2:$A$4</c:f>
              <c:strCache>
                <c:ptCount val="3"/>
                <c:pt idx="0">
                  <c:v>Today</c:v>
                </c:pt>
                <c:pt idx="1">
                  <c:v>Month 3 target</c:v>
                </c:pt>
                <c:pt idx="2">
                  <c:v>Month 6 target</c:v>
                </c:pt>
              </c:strCache>
            </c:strRef>
          </c:cat>
          <c:val>
            <c:numRef>
              <c:f>Sheet1!$B$2:$B$4</c:f>
              <c:numCache>
                <c:formatCode>General</c:formatCode>
                <c:ptCount val="3"/>
                <c:pt idx="0">
                  <c:v>0.0</c:v>
                </c:pt>
                <c:pt idx="1">
                  <c:v>0.4</c:v>
                </c:pt>
                <c:pt idx="2">
                  <c:v>0.6</c:v>
                </c:pt>
              </c:numCache>
            </c:numRef>
          </c:val>
        </c:ser>
        <c:dLbls>
          <c:numFmt formatCode="0%" sourceLinked="0"/>
          <c:txPr>
            <a:bodyPr/>
            <a:lstStyle/>
            <a:p>
              <a:pPr>
                <a:defRPr sz="14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0.8"/>
          <c:min val="0.0"/>
        </c:scaling>
        <c:delete/>
        <c:axPos val="l"/>
        <c:majorTickMark val="out"/>
        <c:minorTickMark val="none"/>
        <c:tickLblPos val="nextTo"/>
        <c:crossAx val="-2068027336"/>
        <c:crosses val="autoZero"/>
      </c:valAx>
    </c:plotArea>
    <c:dispBlanksAs val="gap"/>
  </c:chart>
  <c:txPr>
    <a:bodyPr/>
    <a:lstStyle/>
    <a:p>
      <a:pPr>
        <a:defRPr sz="1100">
          <a:solidFill>
            <a:srgbClr val="1D2B3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Development set (58)</c:v>
                </c:pt>
              </c:strCache>
            </c:strRef>
          </c:tx>
          <c:spPr>
            <a:solidFill>
              <a:srgbClr val="0F766E"/>
            </a:solidFill>
          </c:spPr>
          <c:cat>
            <c:strRef>
              <c:f>Sheet1!$A$2:$A$9</c:f>
              <c:strCache>
                <c:ptCount val="8"/>
                <c:pt idx="0">
                  <c:v>Routing accuracy</c:v>
                </c:pt>
                <c:pt idx="1">
                  <c:v>Right section (top 3)</c:v>
                </c:pt>
                <c:pt idx="2">
                  <c:v>Expected facts</c:v>
                </c:pt>
                <c:pt idx="3">
                  <c:v>Sensitive handed off</c:v>
                </c:pt>
                <c:pt idx="4">
                  <c:v>Own country only</c:v>
                </c:pt>
                <c:pt idx="5">
                  <c:v>No old versions</c:v>
                </c:pt>
                <c:pt idx="6">
                  <c:v>Grounding checks</c:v>
                </c:pt>
                <c:pt idx="7">
                  <c:v>Privacy</c:v>
                </c:pt>
              </c:strCache>
            </c:strRef>
          </c:cat>
          <c:val>
            <c:numRef>
              <c:f>Sheet1!$B$2:$B$9</c:f>
              <c:numCache>
                <c:formatCode>General</c:formatCode>
                <c:ptCount val="8"/>
                <c:pt idx="0">
                  <c:v>1</c:v>
                </c:pt>
                <c:pt idx="1">
                  <c:v>1</c:v>
                </c:pt>
                <c:pt idx="2">
                  <c:v>1</c:v>
                </c:pt>
                <c:pt idx="3">
                  <c:v>1</c:v>
                </c:pt>
                <c:pt idx="4">
                  <c:v>1</c:v>
                </c:pt>
                <c:pt idx="5">
                  <c:v>1</c:v>
                </c:pt>
                <c:pt idx="6">
                  <c:v>1</c:v>
                </c:pt>
                <c:pt idx="7">
                  <c:v>1</c:v>
                </c:pt>
              </c:numCache>
            </c:numRef>
          </c:val>
        </c:ser>
        <c:ser>
          <c:idx val="1"/>
          <c:order val="1"/>
          <c:tx>
            <c:strRef>
              <c:f>Sheet1!$C$1</c:f>
              <c:strCache>
                <c:ptCount val="1"/>
                <c:pt idx="0">
                  <c:v>Held-out set (22)</c:v>
                </c:pt>
              </c:strCache>
            </c:strRef>
          </c:tx>
          <c:spPr>
            <a:solidFill>
              <a:srgbClr val="E8A33D"/>
            </a:solidFill>
          </c:spPr>
          <c:cat>
            <c:strRef>
              <c:f>Sheet1!$A$2:$A$9</c:f>
              <c:strCache>
                <c:ptCount val="8"/>
                <c:pt idx="0">
                  <c:v>Routing accuracy</c:v>
                </c:pt>
                <c:pt idx="1">
                  <c:v>Right section (top 3)</c:v>
                </c:pt>
                <c:pt idx="2">
                  <c:v>Expected facts</c:v>
                </c:pt>
                <c:pt idx="3">
                  <c:v>Sensitive handed off</c:v>
                </c:pt>
                <c:pt idx="4">
                  <c:v>Own country only</c:v>
                </c:pt>
                <c:pt idx="5">
                  <c:v>No old versions</c:v>
                </c:pt>
                <c:pt idx="6">
                  <c:v>Grounding checks</c:v>
                </c:pt>
                <c:pt idx="7">
                  <c:v>Privacy</c:v>
                </c:pt>
              </c:strCache>
            </c:strRef>
          </c:cat>
          <c:val>
            <c:numRef>
              <c:f>Sheet1!$C$2:$C$9</c:f>
              <c:numCache>
                <c:formatCode>General</c:formatCode>
                <c:ptCount val="8"/>
                <c:pt idx="0">
                  <c:v>0.955</c:v>
                </c:pt>
                <c:pt idx="1">
                  <c:v>1</c:v>
                </c:pt>
                <c:pt idx="2">
                  <c:v>0.938</c:v>
                </c:pt>
                <c:pt idx="3">
                  <c:v>1</c:v>
                </c:pt>
                <c:pt idx="4">
                  <c:v>1</c:v>
                </c:pt>
                <c:pt idx="5">
                  <c:v>1</c:v>
                </c:pt>
                <c:pt idx="6">
                  <c:v>1</c:v>
                </c:pt>
                <c:pt idx="7">
                  <c:v>1</c:v>
                </c:pt>
              </c:numCache>
            </c:numRef>
          </c:val>
        </c:ser>
        <c:dLbls>
          <c:numFmt formatCode="0%" sourceLinked="0"/>
          <c:txPr>
            <a:bodyPr/>
            <a:lstStyle/>
            <a:p>
              <a:pPr>
                <a:defRPr sz="85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ax val="1.15"/>
          <c:min val="0.0"/>
        </c:scaling>
        <c:delete/>
        <c:axPos val="l"/>
        <c:majorTickMark val="out"/>
        <c:minorTickMark val="none"/>
        <c:tickLblPos val="nextTo"/>
        <c:crossAx val="-2068027336"/>
        <c:crosses val="autoZero"/>
      </c:valAx>
    </c:plotArea>
    <c:legend>
      <c:legendPos val="b"/>
      <c:overlay val="0"/>
    </c:legend>
    <c:dispBlanksAs val="gap"/>
  </c:chart>
  <c:txPr>
    <a:bodyPr/>
    <a:lstStyle/>
    <a:p>
      <a:pPr>
        <a:defRPr sz="1000">
          <a:solidFill>
            <a:srgbClr val="1D2B3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852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Open with the punchline: the policies exist, but nobody can get the right one for their country, grade and contract without asking a person. AskHR fixes that and hands everything sensitive to a human.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Four numbers from the brief. The cost is not just $26k a month: employees wait a day and a half, and 1 in 12 answers is wrong.</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Meera is the persona from Problem Discovery. The quotes are illustrative voices based on the brief's findings, not verbatim interviews.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Walk the chain quickly; land on the root cause box. That is why the fix is a governed source plus a profile-aware assistant, not a chatbot on SharePoint.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This is the Miro workflow frame in one table. Steps 2, 3 and 6 are where wrong answers and lost trust come from.</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Impact x feasibility, each 1 to 5. Two of the top scorers are mostly code, not AI: the eligibility filter and the verification guard. That is deliberate.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Each feature maps to an opportunity on the Miro board. The rule at the bottom is the design principle Legal and the HRBPs signed up for.</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Live demo moment. Emma is G4 in London. The UK travel policy is mid-transition, so AskHR shows both versions with the date that decides which applies, instead of guessing.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Left: Sarah reports harassment. No AI call; a confidential ticket for Employee Relations, approved by her, with the anonymous Speak Up line offered. Right: Rohit asks in Hinglish and gets the India maternity policy with a Hinglish lead line.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Most of the pipeline is deterministic code. The model only writes the wording, and the guard checks it. If the guard fails, AskHR quotes the policy instead.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The North Star only rises when answers are both used and right: a thumbs-down, hand-off or reopen within 7 days does not count. Guardrails keep it honest.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We review the leading metrics weekly in the pilot. If thumbs-up drops or hand-off acceptance falls, we fix content before scaling.</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These are real results from the prototype build. The two held-out misses are quality misses in extractive mode, not safety failures; model mode exists to close them.</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Each risk has a guardrail in the product and a gate in the evals. The rollback triggers are in the PRD.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Each stage has a gate. We don't move on until the gate is met.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p:spPr>
        <p:txBody>
          <a:bodyPr/>
          <a:lstStyle/>
          <a:p>
            <a:r>
              <a:rPr lang="en-US"/>
              <a:t>Close on the asks. With these three answers, the alpha with HR partners can start in January.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2801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291840"/>
            <a:ext cx="10698480" cy="1463040"/>
          </a:xfrm>
          <a:prstGeom prst="rect">
            <a:avLst/>
          </a:prstGeom>
          <a:noFill/>
          <a:ln/>
        </p:spPr>
        <p:txBody>
          <a:bodyPr wrap="square" rtlCol="0"/>
          <a:lstStyle>
            <a:lvl1pPr marL="0" indent="0" algn="l">
              <a:buNone/>
              <a:defRPr lang="en-US" sz="2400" dirty="0">
                <a:solidFill>
                  <a:schemeClr val="bg2"/>
                </a:solidFill>
                <a:latin typeface="Calibri" pitchFamily="34" charset="0"/>
                <a:ea typeface="Calibri" pitchFamily="34" charset="-122"/>
                <a:cs typeface="Calibri" pitchFamily="34" charset="-120"/>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3" name="Text 0"/>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chemeClr val="accent4"/>
                </a:solidFill>
              </a:rPr>
              <a:t>AskHR: HR Policy Assistant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AskHR: HR Policy Assistant</a:t>
            </a:r>
          </a:p>
        </p:txBody>
      </p:sp>
      <p:sp>
        <p:nvSpPr>
          <p:cNvPr id="3" name="Text Placeholder 2"/>
          <p:cNvSpPr>
            <a:spLocks noGrp="1"/>
          </p:cNvSpPr>
          <p:nvPr>
            <p:ph type="body" idx="101"/>
          </p:nvPr>
        </p:nvSpPr>
        <p:spPr/>
        <p:txBody>
          <a:bodyPr/>
          <a:lstStyle/>
          <a:p>
            <a:r>
              <a:t>Brightpath doesn't lack HR policies. It lacks one trusted answer for the person asking.</a:t>
            </a:r>
          </a:p>
        </p:txBody>
      </p:sp>
      <p:sp>
        <p:nvSpPr>
          <p:cNvPr id="4" name="TextBox 3"/>
          <p:cNvSpPr txBox="1"/>
          <p:nvPr/>
        </p:nvSpPr>
        <p:spPr>
          <a:xfrm>
            <a:off x="731520" y="5623560"/>
            <a:ext cx="5486400" cy="548640"/>
          </a:xfrm>
          <a:prstGeom prst="rect">
            <a:avLst/>
          </a:prstGeom>
          <a:noFill/>
        </p:spPr>
        <p:txBody>
          <a:bodyPr wrap="square" lIns="0" rIns="0" tIns="18288" bIns="18288" anchor="t">
            <a:spAutoFit/>
          </a:bodyPr>
          <a:lstStyle/>
          <a:p>
            <a:pPr algn="l"/>
            <a:r>
              <a:rPr sz="1200" b="0" i="0">
                <a:solidFill>
                  <a:srgbClr val="FFFFFF"/>
                </a:solidFill>
                <a:latin typeface="Calibri"/>
              </a:rPr>
              <a:t>Ashokkumar</a:t>
            </a:r>
          </a:p>
          <a:p>
            <a:pPr algn="l">
              <a:spcBef>
                <a:spcPts val="200"/>
              </a:spcBef>
            </a:pPr>
            <a:r>
              <a:rPr sz="1200" b="0" i="0">
                <a:solidFill>
                  <a:srgbClr val="FFFFFF"/>
                </a:solidFill>
                <a:latin typeface="Calibri"/>
              </a:rPr>
              <a:t>27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HR partners spend 40% of their time on answered questions</a:t>
            </a:r>
          </a:p>
        </p:txBody>
      </p:sp>
      <p:sp>
        <p:nvSpPr>
          <p:cNvPr id="3" name="Rectangle 2"/>
          <p:cNvSpPr/>
          <p:nvPr/>
        </p:nvSpPr>
        <p:spPr>
          <a:xfrm>
            <a:off x="548640" y="1417320"/>
            <a:ext cx="2606040" cy="23774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2194560" cy="731520"/>
          </a:xfrm>
          <a:prstGeom prst="rect">
            <a:avLst/>
          </a:prstGeom>
          <a:noFill/>
        </p:spPr>
        <p:txBody>
          <a:bodyPr wrap="square" lIns="0" rIns="0" tIns="18288" bIns="18288" anchor="t">
            <a:spAutoFit/>
          </a:bodyPr>
          <a:lstStyle/>
          <a:p>
            <a:pPr algn="l"/>
            <a:r>
              <a:rPr sz="3600" b="1" i="0">
                <a:solidFill>
                  <a:srgbClr val="0F766E"/>
                </a:solidFill>
                <a:latin typeface="Cambria"/>
              </a:rPr>
              <a:t>2,500</a:t>
            </a:r>
          </a:p>
        </p:txBody>
      </p:sp>
      <p:sp>
        <p:nvSpPr>
          <p:cNvPr id="5" name="TextBox 4"/>
          <p:cNvSpPr txBox="1"/>
          <p:nvPr/>
        </p:nvSpPr>
        <p:spPr>
          <a:xfrm>
            <a:off x="777240" y="2468880"/>
            <a:ext cx="2194560" cy="1280160"/>
          </a:xfrm>
          <a:prstGeom prst="rect">
            <a:avLst/>
          </a:prstGeom>
          <a:noFill/>
        </p:spPr>
        <p:txBody>
          <a:bodyPr wrap="square" lIns="0" rIns="0" tIns="18288" bIns="18288" anchor="t">
            <a:spAutoFit/>
          </a:bodyPr>
          <a:lstStyle/>
          <a:p>
            <a:pPr algn="l"/>
            <a:r>
              <a:rPr sz="1200" b="0" i="0">
                <a:solidFill>
                  <a:srgbClr val="1D2B30"/>
                </a:solidFill>
                <a:latin typeface="Calibri"/>
              </a:rPr>
              <a:t>policy questions a month, peaking near 4,000 in March (India tax) and November (US open enrolment)</a:t>
            </a:r>
          </a:p>
        </p:txBody>
      </p:sp>
      <p:sp>
        <p:nvSpPr>
          <p:cNvPr id="6" name="Rectangle 5"/>
          <p:cNvSpPr/>
          <p:nvPr/>
        </p:nvSpPr>
        <p:spPr>
          <a:xfrm>
            <a:off x="3337560" y="1417320"/>
            <a:ext cx="2606040" cy="23774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45920"/>
            <a:ext cx="2194560" cy="731520"/>
          </a:xfrm>
          <a:prstGeom prst="rect">
            <a:avLst/>
          </a:prstGeom>
          <a:noFill/>
        </p:spPr>
        <p:txBody>
          <a:bodyPr wrap="square" lIns="0" rIns="0" tIns="18288" bIns="18288" anchor="t">
            <a:spAutoFit/>
          </a:bodyPr>
          <a:lstStyle/>
          <a:p>
            <a:pPr algn="l"/>
            <a:r>
              <a:rPr sz="3600" b="1" i="0">
                <a:solidFill>
                  <a:srgbClr val="E8A33D"/>
                </a:solidFill>
                <a:latin typeface="Cambria"/>
              </a:rPr>
              <a:t>1.5 days</a:t>
            </a:r>
          </a:p>
        </p:txBody>
      </p:sp>
      <p:sp>
        <p:nvSpPr>
          <p:cNvPr id="8" name="TextBox 7"/>
          <p:cNvSpPr txBox="1"/>
          <p:nvPr/>
        </p:nvSpPr>
        <p:spPr>
          <a:xfrm>
            <a:off x="3566160" y="2468880"/>
            <a:ext cx="2194560" cy="1280160"/>
          </a:xfrm>
          <a:prstGeom prst="rect">
            <a:avLst/>
          </a:prstGeom>
          <a:noFill/>
        </p:spPr>
        <p:txBody>
          <a:bodyPr wrap="square" lIns="0" rIns="0" tIns="18288" bIns="18288" anchor="t">
            <a:spAutoFit/>
          </a:bodyPr>
          <a:lstStyle/>
          <a:p>
            <a:pPr algn="l"/>
            <a:r>
              <a:rPr sz="1200" b="0" i="0">
                <a:solidFill>
                  <a:srgbClr val="1D2B30"/>
                </a:solidFill>
                <a:latin typeface="Calibri"/>
              </a:rPr>
              <a:t>average wait for a reply on a question the policy already answers</a:t>
            </a:r>
          </a:p>
        </p:txBody>
      </p:sp>
      <p:sp>
        <p:nvSpPr>
          <p:cNvPr id="9" name="Rectangle 8"/>
          <p:cNvSpPr/>
          <p:nvPr/>
        </p:nvSpPr>
        <p:spPr>
          <a:xfrm>
            <a:off x="6126479" y="1417320"/>
            <a:ext cx="2606040" cy="23774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79" y="1645920"/>
            <a:ext cx="2194560" cy="731520"/>
          </a:xfrm>
          <a:prstGeom prst="rect">
            <a:avLst/>
          </a:prstGeom>
          <a:noFill/>
        </p:spPr>
        <p:txBody>
          <a:bodyPr wrap="square" lIns="0" rIns="0" tIns="18288" bIns="18288" anchor="t">
            <a:spAutoFit/>
          </a:bodyPr>
          <a:lstStyle/>
          <a:p>
            <a:pPr algn="l"/>
            <a:r>
              <a:rPr sz="3600" b="1" i="0">
                <a:solidFill>
                  <a:srgbClr val="5B7C99"/>
                </a:solidFill>
                <a:latin typeface="Cambria"/>
              </a:rPr>
              <a:t>40%</a:t>
            </a:r>
          </a:p>
        </p:txBody>
      </p:sp>
      <p:sp>
        <p:nvSpPr>
          <p:cNvPr id="11" name="TextBox 10"/>
          <p:cNvSpPr txBox="1"/>
          <p:nvPr/>
        </p:nvSpPr>
        <p:spPr>
          <a:xfrm>
            <a:off x="6355079" y="2468880"/>
            <a:ext cx="2194560" cy="1280160"/>
          </a:xfrm>
          <a:prstGeom prst="rect">
            <a:avLst/>
          </a:prstGeom>
          <a:noFill/>
        </p:spPr>
        <p:txBody>
          <a:bodyPr wrap="square" lIns="0" rIns="0" tIns="18288" bIns="18288" anchor="t">
            <a:spAutoFit/>
          </a:bodyPr>
          <a:lstStyle/>
          <a:p>
            <a:pPr algn="l"/>
            <a:r>
              <a:rPr sz="1200" b="0" i="0">
                <a:solidFill>
                  <a:srgbClr val="1D2B30"/>
                </a:solidFill>
                <a:latin typeface="Calibri"/>
              </a:rPr>
              <a:t>of HR partner time spent on repeat questions, across 12 HRBPs in 3 countries</a:t>
            </a:r>
          </a:p>
        </p:txBody>
      </p:sp>
      <p:sp>
        <p:nvSpPr>
          <p:cNvPr id="12" name="Rectangle 11"/>
          <p:cNvSpPr/>
          <p:nvPr/>
        </p:nvSpPr>
        <p:spPr>
          <a:xfrm>
            <a:off x="8915399" y="1417320"/>
            <a:ext cx="2606040" cy="23774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3999" y="1645920"/>
            <a:ext cx="2194560" cy="731520"/>
          </a:xfrm>
          <a:prstGeom prst="rect">
            <a:avLst/>
          </a:prstGeom>
          <a:noFill/>
        </p:spPr>
        <p:txBody>
          <a:bodyPr wrap="square" lIns="0" rIns="0" tIns="18288" bIns="18288" anchor="t">
            <a:spAutoFit/>
          </a:bodyPr>
          <a:lstStyle/>
          <a:p>
            <a:pPr algn="l"/>
            <a:r>
              <a:rPr sz="3600" b="1" i="0">
                <a:solidFill>
                  <a:srgbClr val="C2463F"/>
                </a:solidFill>
                <a:latin typeface="Cambria"/>
              </a:rPr>
              <a:t>8%</a:t>
            </a:r>
          </a:p>
        </p:txBody>
      </p:sp>
      <p:sp>
        <p:nvSpPr>
          <p:cNvPr id="14" name="TextBox 13"/>
          <p:cNvSpPr txBox="1"/>
          <p:nvPr/>
        </p:nvSpPr>
        <p:spPr>
          <a:xfrm>
            <a:off x="9143999" y="2468880"/>
            <a:ext cx="2194560" cy="1280160"/>
          </a:xfrm>
          <a:prstGeom prst="rect">
            <a:avLst/>
          </a:prstGeom>
          <a:noFill/>
        </p:spPr>
        <p:txBody>
          <a:bodyPr wrap="square" lIns="0" rIns="0" tIns="18288" bIns="18288" anchor="t">
            <a:spAutoFit/>
          </a:bodyPr>
          <a:lstStyle/>
          <a:p>
            <a:pPr algn="l"/>
            <a:r>
              <a:rPr sz="1200" b="0" i="0">
                <a:solidFill>
                  <a:srgbClr val="1D2B30"/>
                </a:solidFill>
                <a:latin typeface="Calibri"/>
              </a:rPr>
              <a:t>of answers wrong in audit, mostly another country's policy or a superseded version</a:t>
            </a:r>
          </a:p>
        </p:txBody>
      </p:sp>
      <p:sp>
        <p:nvSpPr>
          <p:cNvPr id="15" name="Rectangle 14"/>
          <p:cNvSpPr/>
          <p:nvPr/>
        </p:nvSpPr>
        <p:spPr>
          <a:xfrm>
            <a:off x="548640" y="4069080"/>
            <a:ext cx="11064240" cy="10058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200753"/>
            <a:ext cx="10735056" cy="742492"/>
          </a:xfrm>
          <a:prstGeom prst="rect">
            <a:avLst/>
          </a:prstGeom>
          <a:noFill/>
        </p:spPr>
        <p:txBody>
          <a:bodyPr wrap="square" lIns="0" rIns="0" tIns="18288" bIns="18288" anchor="t">
            <a:spAutoFit/>
          </a:bodyPr>
          <a:lstStyle/>
          <a:p>
            <a:pPr algn="l"/>
            <a:r>
              <a:rPr sz="1300" b="1" i="0">
                <a:solidFill>
                  <a:srgbClr val="0F766E"/>
                </a:solidFill>
                <a:latin typeface="Calibri"/>
              </a:rPr>
              <a:t>Cost today: </a:t>
            </a:r>
            <a:r>
              <a:rPr sz="1300" b="0" i="0">
                <a:solidFill>
                  <a:srgbClr val="1D2B30"/>
                </a:solidFill>
                <a:latin typeface="Calibri"/>
              </a:rPr>
              <a:t>18 minutes and $10.50 per question, about $26k a month. 10% of India questions arrive in Hindi or Hinglish, and 700 contractors are on different terms from employees. Sensitive questions (harassment, health, layoffs) sit in the same queue, so people avoid asking them.</a:t>
            </a:r>
          </a:p>
        </p:txBody>
      </p:sp>
      <p:sp>
        <p:nvSpPr>
          <p:cNvPr id="17" name="TextBox 16"/>
          <p:cNvSpPr txBox="1"/>
          <p:nvPr/>
        </p:nvSpPr>
        <p:spPr>
          <a:xfrm>
            <a:off x="548640" y="5257800"/>
            <a:ext cx="11064240" cy="548640"/>
          </a:xfrm>
          <a:prstGeom prst="rect">
            <a:avLst/>
          </a:prstGeom>
          <a:noFill/>
        </p:spPr>
        <p:txBody>
          <a:bodyPr wrap="square" lIns="0" rIns="0" tIns="18288" bIns="18288" anchor="t">
            <a:spAutoFit/>
          </a:bodyPr>
          <a:lstStyle/>
          <a:p>
            <a:pPr algn="l"/>
            <a:r>
              <a:rPr sz="1300" b="1" i="0">
                <a:solidFill>
                  <a:srgbClr val="14424C"/>
                </a:solidFill>
                <a:latin typeface="Calibri"/>
              </a:rPr>
              <a:t>CHRO goal in 6 months: </a:t>
            </a:r>
            <a:r>
              <a:rPr sz="1300" b="0" i="0">
                <a:solidFill>
                  <a:srgbClr val="14424C"/>
                </a:solidFill>
                <a:latin typeface="Calibri"/>
              </a:rPr>
              <a:t>60% of policy questions resolved without an HR partner; repeat-question time from 40% to 20%.</a:t>
            </a:r>
          </a:p>
        </p:txBody>
      </p:sp>
      <p:sp>
        <p:nvSpPr>
          <p:cNvPr id="18" name="TextBox 17"/>
          <p:cNvSpPr txBox="1"/>
          <p:nvPr/>
        </p:nvSpPr>
        <p:spPr>
          <a:xfrm>
            <a:off x="548640" y="5989320"/>
            <a:ext cx="9509760" cy="274320"/>
          </a:xfrm>
          <a:prstGeom prst="rect">
            <a:avLst/>
          </a:prstGeom>
          <a:noFill/>
        </p:spPr>
        <p:txBody>
          <a:bodyPr wrap="square" lIns="0" rIns="0" tIns="18288" bIns="18288" anchor="t">
            <a:spAutoFit/>
          </a:bodyPr>
          <a:lstStyle/>
          <a:p>
            <a:pPr algn="l"/>
            <a:r>
              <a:rPr sz="900" b="0" i="1">
                <a:solidFill>
                  <a:srgbClr val="5F6B70"/>
                </a:solidFill>
                <a:latin typeface="Calibri"/>
              </a:rPr>
              <a:t>Source: Product brief (Brightpath HR, 6,000 employees: India 3,600, UK 1,200, US 1,200).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Discovery: the right answer depends on who is asking</a:t>
            </a:r>
          </a:p>
        </p:txBody>
      </p:sp>
      <p:sp>
        <p:nvSpPr>
          <p:cNvPr id="3" name="Rectangle 2"/>
          <p:cNvSpPr/>
          <p:nvPr/>
        </p:nvSpPr>
        <p:spPr>
          <a:xfrm>
            <a:off x="548640" y="1371600"/>
            <a:ext cx="3931920" cy="4480560"/>
          </a:xfrm>
          <a:prstGeom prst="rect">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54480"/>
            <a:ext cx="3474720" cy="274320"/>
          </a:xfrm>
          <a:prstGeom prst="rect">
            <a:avLst/>
          </a:prstGeom>
          <a:noFill/>
        </p:spPr>
        <p:txBody>
          <a:bodyPr wrap="square" lIns="0" rIns="0" tIns="18288" bIns="18288" anchor="t">
            <a:spAutoFit/>
          </a:bodyPr>
          <a:lstStyle/>
          <a:p>
            <a:pPr algn="l"/>
            <a:r>
              <a:rPr sz="1000" b="1" i="0">
                <a:solidFill>
                  <a:srgbClr val="E8A33D"/>
                </a:solidFill>
                <a:latin typeface="Calibri"/>
              </a:rPr>
              <a:t>PRIMARY PERSONA</a:t>
            </a:r>
          </a:p>
        </p:txBody>
      </p:sp>
      <p:sp>
        <p:nvSpPr>
          <p:cNvPr id="5" name="TextBox 4"/>
          <p:cNvSpPr txBox="1"/>
          <p:nvPr/>
        </p:nvSpPr>
        <p:spPr>
          <a:xfrm>
            <a:off x="777240" y="1828800"/>
            <a:ext cx="3474720" cy="822960"/>
          </a:xfrm>
          <a:prstGeom prst="rect">
            <a:avLst/>
          </a:prstGeom>
          <a:noFill/>
        </p:spPr>
        <p:txBody>
          <a:bodyPr wrap="square" lIns="0" rIns="0" tIns="18288" bIns="18288" anchor="t">
            <a:spAutoFit/>
          </a:bodyPr>
          <a:lstStyle/>
          <a:p>
            <a:pPr algn="l"/>
            <a:r>
              <a:rPr sz="1800" b="1" i="0">
                <a:solidFill>
                  <a:srgbClr val="FFFFFF"/>
                </a:solidFill>
                <a:latin typeface="Cambria"/>
              </a:rPr>
              <a:t>Meera Iyer, HR business partner, Bengaluru</a:t>
            </a:r>
          </a:p>
        </p:txBody>
      </p:sp>
      <p:sp>
        <p:nvSpPr>
          <p:cNvPr id="6" name="TextBox 5"/>
          <p:cNvSpPr txBox="1"/>
          <p:nvPr/>
        </p:nvSpPr>
        <p:spPr>
          <a:xfrm>
            <a:off x="777240" y="2788920"/>
            <a:ext cx="3474720" cy="2926080"/>
          </a:xfrm>
          <a:prstGeom prst="rect">
            <a:avLst/>
          </a:prstGeom>
          <a:noFill/>
        </p:spPr>
        <p:txBody>
          <a:bodyPr wrap="square" lIns="0" rIns="0" tIns="18288" bIns="18288" anchor="t">
            <a:spAutoFit/>
          </a:bodyPr>
          <a:lstStyle/>
          <a:p>
            <a:pPr algn="l" marL="228600" indent="-228600">
              <a:buChar char="•"/>
            </a:pPr>
            <a:r>
              <a:rPr sz="1200" b="0" i="0">
                <a:solidFill>
                  <a:srgbClr val="FFFFFF"/>
                </a:solidFill>
                <a:latin typeface="Calibri"/>
              </a:rPr>
              <a:t>Supports about 600 employees; one of 12 HRBPs</a:t>
            </a:r>
          </a:p>
          <a:p>
            <a:pPr algn="l" marL="228600" indent="-228600">
              <a:spcBef>
                <a:spcPts val="800"/>
              </a:spcBef>
              <a:buChar char="•"/>
            </a:pPr>
            <a:r>
              <a:rPr sz="1200" b="0" i="0">
                <a:solidFill>
                  <a:srgbClr val="FFFFFF"/>
                </a:solidFill>
                <a:latin typeface="Calibri"/>
              </a:rPr>
              <a:t>Answers leave, pay-date, benefits and travel questions by email, Teams and ServiceNow</a:t>
            </a:r>
          </a:p>
          <a:p>
            <a:pPr algn="l" marL="228600" indent="-228600">
              <a:spcBef>
                <a:spcPts val="800"/>
              </a:spcBef>
              <a:buChar char="•"/>
            </a:pPr>
            <a:r>
              <a:rPr sz="1200" b="0" i="0">
                <a:solidFill>
                  <a:srgbClr val="FFFFFF"/>
                </a:solidFill>
                <a:latin typeface="Calibri"/>
              </a:rPr>
              <a:t>Checks Workday for country, grade and contract on every question</a:t>
            </a:r>
          </a:p>
          <a:p>
            <a:pPr algn="l" marL="228600" indent="-228600">
              <a:spcBef>
                <a:spcPts val="800"/>
              </a:spcBef>
              <a:buChar char="•"/>
            </a:pPr>
            <a:r>
              <a:rPr sz="1200" b="0" i="0">
                <a:solidFill>
                  <a:srgbClr val="FFFFFF"/>
                </a:solidFill>
                <a:latin typeface="Calibri"/>
              </a:rPr>
              <a:t>Goal: spend her time on the sensitive cases only a person should handle</a:t>
            </a:r>
          </a:p>
        </p:txBody>
      </p:sp>
      <p:sp>
        <p:nvSpPr>
          <p:cNvPr id="7" name="Rectangle 6"/>
          <p:cNvSpPr/>
          <p:nvPr/>
        </p:nvSpPr>
        <p:spPr>
          <a:xfrm>
            <a:off x="4709160" y="1371600"/>
            <a:ext cx="6903720" cy="10058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499616"/>
            <a:ext cx="6492240" cy="548640"/>
          </a:xfrm>
          <a:prstGeom prst="rect">
            <a:avLst/>
          </a:prstGeom>
          <a:noFill/>
        </p:spPr>
        <p:txBody>
          <a:bodyPr wrap="square" lIns="0" rIns="0" tIns="18288" bIns="18288" anchor="t">
            <a:spAutoFit/>
          </a:bodyPr>
          <a:lstStyle/>
          <a:p>
            <a:pPr algn="l"/>
            <a:r>
              <a:rPr sz="1300" b="0" i="1">
                <a:solidFill>
                  <a:srgbClr val="1D2B30"/>
                </a:solidFill>
                <a:latin typeface="Cambria"/>
              </a:rPr>
              <a:t>"I answer the same twenty questions every week, and I still have to look up which version is live."</a:t>
            </a:r>
          </a:p>
        </p:txBody>
      </p:sp>
      <p:sp>
        <p:nvSpPr>
          <p:cNvPr id="9" name="TextBox 8"/>
          <p:cNvSpPr txBox="1"/>
          <p:nvPr/>
        </p:nvSpPr>
        <p:spPr>
          <a:xfrm>
            <a:off x="4937760" y="2029967"/>
            <a:ext cx="6492240" cy="274320"/>
          </a:xfrm>
          <a:prstGeom prst="rect">
            <a:avLst/>
          </a:prstGeom>
          <a:noFill/>
        </p:spPr>
        <p:txBody>
          <a:bodyPr wrap="square" lIns="0" rIns="0" tIns="18288" bIns="18288" anchor="t">
            <a:spAutoFit/>
          </a:bodyPr>
          <a:lstStyle/>
          <a:p>
            <a:pPr algn="l"/>
            <a:r>
              <a:rPr sz="1000" b="0" i="0">
                <a:solidFill>
                  <a:srgbClr val="5F6B70"/>
                </a:solidFill>
                <a:latin typeface="Calibri"/>
              </a:rPr>
              <a:t>HR partner, India</a:t>
            </a:r>
          </a:p>
        </p:txBody>
      </p:sp>
      <p:sp>
        <p:nvSpPr>
          <p:cNvPr id="10" name="Rectangle 9"/>
          <p:cNvSpPr/>
          <p:nvPr/>
        </p:nvSpPr>
        <p:spPr>
          <a:xfrm>
            <a:off x="4709160" y="2514600"/>
            <a:ext cx="6903720" cy="10058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642616"/>
            <a:ext cx="6492240" cy="548640"/>
          </a:xfrm>
          <a:prstGeom prst="rect">
            <a:avLst/>
          </a:prstGeom>
          <a:noFill/>
        </p:spPr>
        <p:txBody>
          <a:bodyPr wrap="square" lIns="0" rIns="0" tIns="18288" bIns="18288" anchor="t">
            <a:spAutoFit/>
          </a:bodyPr>
          <a:lstStyle/>
          <a:p>
            <a:pPr algn="l"/>
            <a:r>
              <a:rPr sz="1300" b="0" i="1">
                <a:solidFill>
                  <a:srgbClr val="1D2B30"/>
                </a:solidFill>
                <a:latin typeface="Cambria"/>
              </a:rPr>
              <a:t>"Two travel policies are live at once. I don't know which hotel limit to quote."</a:t>
            </a:r>
          </a:p>
        </p:txBody>
      </p:sp>
      <p:sp>
        <p:nvSpPr>
          <p:cNvPr id="12" name="TextBox 11"/>
          <p:cNvSpPr txBox="1"/>
          <p:nvPr/>
        </p:nvSpPr>
        <p:spPr>
          <a:xfrm>
            <a:off x="4937760" y="3172968"/>
            <a:ext cx="6492240" cy="274320"/>
          </a:xfrm>
          <a:prstGeom prst="rect">
            <a:avLst/>
          </a:prstGeom>
          <a:noFill/>
        </p:spPr>
        <p:txBody>
          <a:bodyPr wrap="square" lIns="0" rIns="0" tIns="18288" bIns="18288" anchor="t">
            <a:spAutoFit/>
          </a:bodyPr>
          <a:lstStyle/>
          <a:p>
            <a:pPr algn="l"/>
            <a:r>
              <a:rPr sz="1000" b="0" i="0">
                <a:solidFill>
                  <a:srgbClr val="5F6B70"/>
                </a:solidFill>
                <a:latin typeface="Calibri"/>
              </a:rPr>
              <a:t>Employee, London</a:t>
            </a:r>
          </a:p>
        </p:txBody>
      </p:sp>
      <p:sp>
        <p:nvSpPr>
          <p:cNvPr id="13" name="Rectangle 12"/>
          <p:cNvSpPr/>
          <p:nvPr/>
        </p:nvSpPr>
        <p:spPr>
          <a:xfrm>
            <a:off x="4709160" y="3657600"/>
            <a:ext cx="6903720" cy="10058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3785615"/>
            <a:ext cx="6492240" cy="548640"/>
          </a:xfrm>
          <a:prstGeom prst="rect">
            <a:avLst/>
          </a:prstGeom>
          <a:noFill/>
        </p:spPr>
        <p:txBody>
          <a:bodyPr wrap="square" lIns="0" rIns="0" tIns="18288" bIns="18288" anchor="t">
            <a:spAutoFit/>
          </a:bodyPr>
          <a:lstStyle/>
          <a:p>
            <a:pPr algn="l"/>
            <a:r>
              <a:rPr sz="1300" b="0" i="1">
                <a:solidFill>
                  <a:srgbClr val="1D2B30"/>
                </a:solidFill>
                <a:latin typeface="Cambria"/>
              </a:rPr>
              <a:t>"I didn't want to ask about medical leave in a ticket everyone in HR can read."</a:t>
            </a:r>
          </a:p>
        </p:txBody>
      </p:sp>
      <p:sp>
        <p:nvSpPr>
          <p:cNvPr id="15" name="TextBox 14"/>
          <p:cNvSpPr txBox="1"/>
          <p:nvPr/>
        </p:nvSpPr>
        <p:spPr>
          <a:xfrm>
            <a:off x="4937760" y="4315968"/>
            <a:ext cx="6492240" cy="274320"/>
          </a:xfrm>
          <a:prstGeom prst="rect">
            <a:avLst/>
          </a:prstGeom>
          <a:noFill/>
        </p:spPr>
        <p:txBody>
          <a:bodyPr wrap="square" lIns="0" rIns="0" tIns="18288" bIns="18288" anchor="t">
            <a:spAutoFit/>
          </a:bodyPr>
          <a:lstStyle/>
          <a:p>
            <a:pPr algn="l"/>
            <a:r>
              <a:rPr sz="1000" b="0" i="0">
                <a:solidFill>
                  <a:srgbClr val="5F6B70"/>
                </a:solidFill>
                <a:latin typeface="Calibri"/>
              </a:rPr>
              <a:t>Employee, US</a:t>
            </a:r>
          </a:p>
        </p:txBody>
      </p:sp>
      <p:sp>
        <p:nvSpPr>
          <p:cNvPr id="16" name="Rectangle 15"/>
          <p:cNvSpPr/>
          <p:nvPr/>
        </p:nvSpPr>
        <p:spPr>
          <a:xfrm>
            <a:off x="4709160" y="4800600"/>
            <a:ext cx="6903720" cy="10058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4928616"/>
            <a:ext cx="6492240" cy="548640"/>
          </a:xfrm>
          <a:prstGeom prst="rect">
            <a:avLst/>
          </a:prstGeom>
          <a:noFill/>
        </p:spPr>
        <p:txBody>
          <a:bodyPr wrap="square" lIns="0" rIns="0" tIns="18288" bIns="18288" anchor="t">
            <a:spAutoFit/>
          </a:bodyPr>
          <a:lstStyle/>
          <a:p>
            <a:pPr algn="l"/>
            <a:r>
              <a:rPr sz="1300" b="0" i="1">
                <a:solidFill>
                  <a:srgbClr val="1D2B30"/>
                </a:solidFill>
                <a:latin typeface="Cambria"/>
              </a:rPr>
              <a:t>"If the bot says 'you get 10 more days', that reads as a promise in the UK."</a:t>
            </a:r>
          </a:p>
        </p:txBody>
      </p:sp>
      <p:sp>
        <p:nvSpPr>
          <p:cNvPr id="18" name="TextBox 17"/>
          <p:cNvSpPr txBox="1"/>
          <p:nvPr/>
        </p:nvSpPr>
        <p:spPr>
          <a:xfrm>
            <a:off x="4937760" y="5458968"/>
            <a:ext cx="6492240" cy="274320"/>
          </a:xfrm>
          <a:prstGeom prst="rect">
            <a:avLst/>
          </a:prstGeom>
          <a:noFill/>
        </p:spPr>
        <p:txBody>
          <a:bodyPr wrap="square" lIns="0" rIns="0" tIns="18288" bIns="18288" anchor="t">
            <a:spAutoFit/>
          </a:bodyPr>
          <a:lstStyle/>
          <a:p>
            <a:pPr algn="l"/>
            <a:r>
              <a:rPr sz="1000" b="0" i="0">
                <a:solidFill>
                  <a:srgbClr val="5F6B70"/>
                </a:solidFill>
                <a:latin typeface="Calibri"/>
              </a:rPr>
              <a:t>Legal, UK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Five whys: policy knowledge was never run as a product</a:t>
            </a:r>
          </a:p>
        </p:txBody>
      </p:sp>
      <p:sp>
        <p:nvSpPr>
          <p:cNvPr id="3" name="Rectangle 2"/>
          <p:cNvSpPr/>
          <p:nvPr/>
        </p:nvSpPr>
        <p:spPr>
          <a:xfrm>
            <a:off x="548640" y="1417320"/>
            <a:ext cx="2057400" cy="26060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60020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5" name="TextBox 4"/>
          <p:cNvSpPr txBox="1"/>
          <p:nvPr/>
        </p:nvSpPr>
        <p:spPr>
          <a:xfrm>
            <a:off x="731520" y="2103120"/>
            <a:ext cx="1737360" cy="640080"/>
          </a:xfrm>
          <a:prstGeom prst="rect">
            <a:avLst/>
          </a:prstGeom>
          <a:noFill/>
        </p:spPr>
        <p:txBody>
          <a:bodyPr wrap="square" lIns="0" rIns="0" tIns="18288" bIns="18288" anchor="t">
            <a:spAutoFit/>
          </a:bodyPr>
          <a:lstStyle/>
          <a:p>
            <a:pPr algn="l"/>
            <a:r>
              <a:rPr sz="1300" b="1" i="0">
                <a:solidFill>
                  <a:srgbClr val="14424C"/>
                </a:solidFill>
                <a:latin typeface="Calibri"/>
              </a:rPr>
              <a:t>Repeat questions</a:t>
            </a:r>
          </a:p>
        </p:txBody>
      </p:sp>
      <p:sp>
        <p:nvSpPr>
          <p:cNvPr id="6" name="TextBox 5"/>
          <p:cNvSpPr txBox="1"/>
          <p:nvPr/>
        </p:nvSpPr>
        <p:spPr>
          <a:xfrm>
            <a:off x="731520" y="2743200"/>
            <a:ext cx="1737360" cy="1234440"/>
          </a:xfrm>
          <a:prstGeom prst="rect">
            <a:avLst/>
          </a:prstGeom>
          <a:noFill/>
        </p:spPr>
        <p:txBody>
          <a:bodyPr wrap="square" lIns="0" rIns="0" tIns="18288" bIns="18288" anchor="t">
            <a:spAutoFit/>
          </a:bodyPr>
          <a:lstStyle/>
          <a:p>
            <a:pPr algn="l"/>
            <a:r>
              <a:rPr sz="1100" b="0" i="0">
                <a:solidFill>
                  <a:srgbClr val="1D2B30"/>
                </a:solidFill>
                <a:latin typeface="Calibri"/>
              </a:rPr>
              <a:t>Every routine question is a ticket a person reads and answers by hand.</a:t>
            </a:r>
          </a:p>
        </p:txBody>
      </p:sp>
      <p:sp>
        <p:nvSpPr>
          <p:cNvPr id="7" name="Rectangle 6"/>
          <p:cNvSpPr/>
          <p:nvPr/>
        </p:nvSpPr>
        <p:spPr>
          <a:xfrm>
            <a:off x="2788920" y="1417320"/>
            <a:ext cx="2057400" cy="26060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971800" y="160020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9" name="TextBox 8"/>
          <p:cNvSpPr txBox="1"/>
          <p:nvPr/>
        </p:nvSpPr>
        <p:spPr>
          <a:xfrm>
            <a:off x="2971800" y="2103120"/>
            <a:ext cx="1737360" cy="640080"/>
          </a:xfrm>
          <a:prstGeom prst="rect">
            <a:avLst/>
          </a:prstGeom>
          <a:noFill/>
        </p:spPr>
        <p:txBody>
          <a:bodyPr wrap="square" lIns="0" rIns="0" tIns="18288" bIns="18288" anchor="t">
            <a:spAutoFit/>
          </a:bodyPr>
          <a:lstStyle/>
          <a:p>
            <a:pPr algn="l"/>
            <a:r>
              <a:rPr sz="1300" b="1" i="0">
                <a:solidFill>
                  <a:srgbClr val="14424C"/>
                </a:solidFill>
                <a:latin typeface="Calibri"/>
              </a:rPr>
              <a:t>Employees can't self-serve</a:t>
            </a:r>
          </a:p>
        </p:txBody>
      </p:sp>
      <p:sp>
        <p:nvSpPr>
          <p:cNvPr id="10" name="TextBox 9"/>
          <p:cNvSpPr txBox="1"/>
          <p:nvPr/>
        </p:nvSpPr>
        <p:spPr>
          <a:xfrm>
            <a:off x="2971800" y="2743200"/>
            <a:ext cx="1737360" cy="1234440"/>
          </a:xfrm>
          <a:prstGeom prst="rect">
            <a:avLst/>
          </a:prstGeom>
          <a:noFill/>
        </p:spPr>
        <p:txBody>
          <a:bodyPr wrap="square" lIns="0" rIns="0" tIns="18288" bIns="18288" anchor="t">
            <a:spAutoFit/>
          </a:bodyPr>
          <a:lstStyle/>
          <a:p>
            <a:pPr algn="l"/>
            <a:r>
              <a:rPr sz="1100" b="0" i="0">
                <a:solidFill>
                  <a:srgbClr val="1D2B30"/>
                </a:solidFill>
                <a:latin typeface="Calibri"/>
              </a:rPr>
              <a:t>300 pages in 40 documents, with no search by country, grade or contract.</a:t>
            </a:r>
          </a:p>
        </p:txBody>
      </p:sp>
      <p:sp>
        <p:nvSpPr>
          <p:cNvPr id="11" name="Rectangle 10"/>
          <p:cNvSpPr/>
          <p:nvPr/>
        </p:nvSpPr>
        <p:spPr>
          <a:xfrm>
            <a:off x="5029200" y="1417320"/>
            <a:ext cx="2057400" cy="26060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12080" y="160020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3" name="TextBox 12"/>
          <p:cNvSpPr txBox="1"/>
          <p:nvPr/>
        </p:nvSpPr>
        <p:spPr>
          <a:xfrm>
            <a:off x="5212080" y="2103120"/>
            <a:ext cx="1737360" cy="640080"/>
          </a:xfrm>
          <a:prstGeom prst="rect">
            <a:avLst/>
          </a:prstGeom>
          <a:noFill/>
        </p:spPr>
        <p:txBody>
          <a:bodyPr wrap="square" lIns="0" rIns="0" tIns="18288" bIns="18288" anchor="t">
            <a:spAutoFit/>
          </a:bodyPr>
          <a:lstStyle/>
          <a:p>
            <a:pPr algn="l"/>
            <a:r>
              <a:rPr sz="1300" b="1" i="0">
                <a:solidFill>
                  <a:srgbClr val="14424C"/>
                </a:solidFill>
                <a:latin typeface="Calibri"/>
              </a:rPr>
              <a:t>Answer depends on who asks</a:t>
            </a:r>
          </a:p>
        </p:txBody>
      </p:sp>
      <p:sp>
        <p:nvSpPr>
          <p:cNvPr id="14" name="TextBox 13"/>
          <p:cNvSpPr txBox="1"/>
          <p:nvPr/>
        </p:nvSpPr>
        <p:spPr>
          <a:xfrm>
            <a:off x="5212080" y="2743200"/>
            <a:ext cx="1737360" cy="1234440"/>
          </a:xfrm>
          <a:prstGeom prst="rect">
            <a:avLst/>
          </a:prstGeom>
          <a:noFill/>
        </p:spPr>
        <p:txBody>
          <a:bodyPr wrap="square" lIns="0" rIns="0" tIns="18288" bIns="18288" anchor="t">
            <a:spAutoFit/>
          </a:bodyPr>
          <a:lstStyle/>
          <a:p>
            <a:pPr algn="l"/>
            <a:r>
              <a:rPr sz="1100" b="0" i="0">
                <a:solidFill>
                  <a:srgbClr val="1D2B30"/>
                </a:solidFill>
                <a:latin typeface="Calibri"/>
              </a:rPr>
              <a:t>Nothing joins the Workday profile to the right policy section.</a:t>
            </a:r>
          </a:p>
        </p:txBody>
      </p:sp>
      <p:sp>
        <p:nvSpPr>
          <p:cNvPr id="15" name="Rectangle 14"/>
          <p:cNvSpPr/>
          <p:nvPr/>
        </p:nvSpPr>
        <p:spPr>
          <a:xfrm>
            <a:off x="7269480" y="1417320"/>
            <a:ext cx="2057400" cy="26060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52360" y="160020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7" name="TextBox 16"/>
          <p:cNvSpPr txBox="1"/>
          <p:nvPr/>
        </p:nvSpPr>
        <p:spPr>
          <a:xfrm>
            <a:off x="7452360" y="2103120"/>
            <a:ext cx="1737360" cy="640080"/>
          </a:xfrm>
          <a:prstGeom prst="rect">
            <a:avLst/>
          </a:prstGeom>
          <a:noFill/>
        </p:spPr>
        <p:txBody>
          <a:bodyPr wrap="square" lIns="0" rIns="0" tIns="18288" bIns="18288" anchor="t">
            <a:spAutoFit/>
          </a:bodyPr>
          <a:lstStyle/>
          <a:p>
            <a:pPr algn="l"/>
            <a:r>
              <a:rPr sz="1300" b="1" i="0">
                <a:solidFill>
                  <a:srgbClr val="14424C"/>
                </a:solidFill>
                <a:latin typeface="Calibri"/>
              </a:rPr>
              <a:t>Versions are unclear</a:t>
            </a:r>
          </a:p>
        </p:txBody>
      </p:sp>
      <p:sp>
        <p:nvSpPr>
          <p:cNvPr id="18" name="TextBox 17"/>
          <p:cNvSpPr txBox="1"/>
          <p:nvPr/>
        </p:nvSpPr>
        <p:spPr>
          <a:xfrm>
            <a:off x="7452360" y="2743200"/>
            <a:ext cx="1737360" cy="1234440"/>
          </a:xfrm>
          <a:prstGeom prst="rect">
            <a:avLst/>
          </a:prstGeom>
          <a:noFill/>
        </p:spPr>
        <p:txBody>
          <a:bodyPr wrap="square" lIns="0" rIns="0" tIns="18288" bIns="18288" anchor="t">
            <a:spAutoFit/>
          </a:bodyPr>
          <a:lstStyle/>
          <a:p>
            <a:pPr algn="l"/>
            <a:r>
              <a:rPr sz="1100" b="0" i="0">
                <a:solidFill>
                  <a:srgbClr val="1D2B30"/>
                </a:solidFill>
                <a:latin typeface="Calibri"/>
              </a:rPr>
              <a:t>No owner or effective dates; superseded files stay visible (8% wrong).</a:t>
            </a:r>
          </a:p>
        </p:txBody>
      </p:sp>
      <p:sp>
        <p:nvSpPr>
          <p:cNvPr id="19" name="Rectangle 18"/>
          <p:cNvSpPr/>
          <p:nvPr/>
        </p:nvSpPr>
        <p:spPr>
          <a:xfrm>
            <a:off x="9509760" y="1417320"/>
            <a:ext cx="2057400" cy="26060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92640" y="160020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21" name="TextBox 20"/>
          <p:cNvSpPr txBox="1"/>
          <p:nvPr/>
        </p:nvSpPr>
        <p:spPr>
          <a:xfrm>
            <a:off x="9692640" y="2103120"/>
            <a:ext cx="1737360" cy="640080"/>
          </a:xfrm>
          <a:prstGeom prst="rect">
            <a:avLst/>
          </a:prstGeom>
          <a:noFill/>
        </p:spPr>
        <p:txBody>
          <a:bodyPr wrap="square" lIns="0" rIns="0" tIns="18288" bIns="18288" anchor="t">
            <a:spAutoFit/>
          </a:bodyPr>
          <a:lstStyle/>
          <a:p>
            <a:pPr algn="l"/>
            <a:r>
              <a:rPr sz="1300" b="1" i="0">
                <a:solidFill>
                  <a:srgbClr val="14424C"/>
                </a:solidFill>
                <a:latin typeface="Calibri"/>
              </a:rPr>
              <a:t>No publishing process</a:t>
            </a:r>
          </a:p>
        </p:txBody>
      </p:sp>
      <p:sp>
        <p:nvSpPr>
          <p:cNvPr id="22" name="TextBox 21"/>
          <p:cNvSpPr txBox="1"/>
          <p:nvPr/>
        </p:nvSpPr>
        <p:spPr>
          <a:xfrm>
            <a:off x="9692640" y="2743200"/>
            <a:ext cx="1737360" cy="1234440"/>
          </a:xfrm>
          <a:prstGeom prst="rect">
            <a:avLst/>
          </a:prstGeom>
          <a:noFill/>
        </p:spPr>
        <p:txBody>
          <a:bodyPr wrap="square" lIns="0" rIns="0" tIns="18288" bIns="18288" anchor="t">
            <a:spAutoFit/>
          </a:bodyPr>
          <a:lstStyle/>
          <a:p>
            <a:pPr algn="l"/>
            <a:r>
              <a:rPr sz="1100" b="0" i="0">
                <a:solidFill>
                  <a:srgbClr val="1D2B30"/>
                </a:solidFill>
                <a:latin typeface="Calibri"/>
              </a:rPr>
              <a:t>No owner, audience or dates per document; no channel that delivers them.</a:t>
            </a:r>
          </a:p>
        </p:txBody>
      </p:sp>
      <p:sp>
        <p:nvSpPr>
          <p:cNvPr id="23" name="Rectangle 22"/>
          <p:cNvSpPr/>
          <p:nvPr/>
        </p:nvSpPr>
        <p:spPr>
          <a:xfrm>
            <a:off x="548640" y="4251960"/>
            <a:ext cx="11064240" cy="1417320"/>
          </a:xfrm>
          <a:prstGeom prst="rect">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389120"/>
            <a:ext cx="10607040" cy="274320"/>
          </a:xfrm>
          <a:prstGeom prst="rect">
            <a:avLst/>
          </a:prstGeom>
          <a:noFill/>
        </p:spPr>
        <p:txBody>
          <a:bodyPr wrap="square" lIns="0" rIns="0" tIns="18288" bIns="18288" anchor="t">
            <a:spAutoFit/>
          </a:bodyPr>
          <a:lstStyle/>
          <a:p>
            <a:pPr algn="l"/>
            <a:r>
              <a:rPr sz="1000" b="1" i="0">
                <a:solidFill>
                  <a:srgbClr val="E8A33D"/>
                </a:solidFill>
                <a:latin typeface="Calibri"/>
              </a:rPr>
              <a:t>ROOT CAUSE</a:t>
            </a:r>
          </a:p>
        </p:txBody>
      </p:sp>
      <p:sp>
        <p:nvSpPr>
          <p:cNvPr id="25" name="TextBox 24"/>
          <p:cNvSpPr txBox="1"/>
          <p:nvPr/>
        </p:nvSpPr>
        <p:spPr>
          <a:xfrm>
            <a:off x="777240" y="4663440"/>
            <a:ext cx="10607040" cy="914400"/>
          </a:xfrm>
          <a:prstGeom prst="rect">
            <a:avLst/>
          </a:prstGeom>
          <a:noFill/>
        </p:spPr>
        <p:txBody>
          <a:bodyPr wrap="square" lIns="0" rIns="0" tIns="18288" bIns="18288" anchor="t">
            <a:spAutoFit/>
          </a:bodyPr>
          <a:lstStyle/>
          <a:p>
            <a:pPr algn="l"/>
            <a:r>
              <a:rPr sz="1400" b="0" i="0">
                <a:solidFill>
                  <a:srgbClr val="FFFFFF"/>
                </a:solidFill>
                <a:latin typeface="Calibri"/>
              </a:rPr>
              <a:t>Brightpath has no single, version-controlled policy source joined to who is asking. Fix: publish policies with owner, audience and effective dates, and answer from them by profile, with every sensitive case going straight to a named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gap shows up at every step of today's workflow</a:t>
            </a:r>
          </a:p>
        </p:txBody>
      </p:sp>
      <p:graphicFrame>
        <p:nvGraphicFramePr>
          <p:cNvPr id="3" name="Table 2"/>
          <p:cNvGraphicFramePr>
            <a:graphicFrameLocks noGrp="1"/>
          </p:cNvGraphicFramePr>
          <p:nvPr/>
        </p:nvGraphicFramePr>
        <p:xfrm>
          <a:off x="548640" y="1371600"/>
          <a:ext cx="11064240" cy="4206240"/>
        </p:xfrm>
        <a:graphic>
          <a:graphicData uri="http://schemas.openxmlformats.org/drawingml/2006/table">
            <a:tbl>
              <a:tblPr firstRow="1" bandRow="1">
                <a:tableStyleId>{5C22544A-7EE6-4342-B048-85BDC9FD1C3A}</a:tableStyleId>
              </a:tblPr>
              <a:tblGrid>
                <a:gridCol w="2011680"/>
                <a:gridCol w="3566160"/>
                <a:gridCol w="4206240"/>
                <a:gridCol w="1280160"/>
              </a:tblGrid>
              <a:tr h="525780">
                <a:tc>
                  <a:txBody>
                    <a:bodyPr/>
                    <a:lstStyle/>
                    <a:p>
                      <a:r>
                        <a:rPr sz="1200" b="1">
                          <a:solidFill>
                            <a:srgbClr val="FFFFFF"/>
                          </a:solidFill>
                          <a:latin typeface="Calibri"/>
                        </a:rPr>
                        <a:t>Step</a:t>
                      </a:r>
                    </a:p>
                  </a:txBody>
                  <a:tcPr marL="91440" marR="91440">
                    <a:solidFill>
                      <a:srgbClr val="14424C"/>
                    </a:solidFill>
                  </a:tcPr>
                </a:tc>
                <a:tc>
                  <a:txBody>
                    <a:bodyPr/>
                    <a:lstStyle/>
                    <a:p>
                      <a:r>
                        <a:rPr sz="1200" b="1">
                          <a:solidFill>
                            <a:srgbClr val="FFFFFF"/>
                          </a:solidFill>
                          <a:latin typeface="Calibri"/>
                        </a:rPr>
                        <a:t>What happens today</a:t>
                      </a:r>
                    </a:p>
                  </a:txBody>
                  <a:tcPr marL="91440" marR="91440">
                    <a:solidFill>
                      <a:srgbClr val="14424C"/>
                    </a:solidFill>
                  </a:tcPr>
                </a:tc>
                <a:tc>
                  <a:txBody>
                    <a:bodyPr/>
                    <a:lstStyle/>
                    <a:p>
                      <a:r>
                        <a:rPr sz="1200" b="1">
                          <a:solidFill>
                            <a:srgbClr val="FFFFFF"/>
                          </a:solidFill>
                          <a:latin typeface="Calibri"/>
                        </a:rPr>
                        <a:t>Where it breaks</a:t>
                      </a:r>
                    </a:p>
                  </a:txBody>
                  <a:tcPr marL="91440" marR="91440">
                    <a:solidFill>
                      <a:srgbClr val="14424C"/>
                    </a:solidFill>
                  </a:tcPr>
                </a:tc>
                <a:tc>
                  <a:txBody>
                    <a:bodyPr/>
                    <a:lstStyle/>
                    <a:p>
                      <a:r>
                        <a:rPr sz="1200" b="1">
                          <a:solidFill>
                            <a:srgbClr val="FFFFFF"/>
                          </a:solidFill>
                          <a:latin typeface="Calibri"/>
                        </a:rPr>
                        <a:t>Opportunity</a:t>
                      </a:r>
                    </a:p>
                  </a:txBody>
                  <a:tcPr marL="91440" marR="91440">
                    <a:solidFill>
                      <a:srgbClr val="14424C"/>
                    </a:solidFill>
                  </a:tcPr>
                </a:tc>
              </a:tr>
              <a:tr h="525780">
                <a:tc>
                  <a:txBody>
                    <a:bodyPr/>
                    <a:lstStyle/>
                    <a:p>
                      <a:r>
                        <a:rPr sz="1200" b="1">
                          <a:solidFill>
                            <a:srgbClr val="1D2B30"/>
                          </a:solidFill>
                          <a:latin typeface="Calibri"/>
                        </a:rPr>
                        <a:t>1. Employee asks</a:t>
                      </a:r>
                    </a:p>
                  </a:txBody>
                  <a:tcPr marL="91440" marR="91440">
                    <a:solidFill>
                      <a:srgbClr val="FFFFFF"/>
                    </a:solidFill>
                  </a:tcPr>
                </a:tc>
                <a:tc>
                  <a:txBody>
                    <a:bodyPr/>
                    <a:lstStyle/>
                    <a:p>
                      <a:r>
                        <a:rPr sz="1200" b="0">
                          <a:solidFill>
                            <a:srgbClr val="1D2B30"/>
                          </a:solidFill>
                          <a:latin typeface="Calibri"/>
                        </a:rPr>
                        <a:t>Email, Teams or ServiceNow, often in Hinglish</a:t>
                      </a:r>
                    </a:p>
                  </a:txBody>
                  <a:tcPr marL="91440" marR="91440">
                    <a:solidFill>
                      <a:srgbClr val="FFFFFF"/>
                    </a:solidFill>
                  </a:tcPr>
                </a:tc>
                <a:tc>
                  <a:txBody>
                    <a:bodyPr/>
                    <a:lstStyle/>
                    <a:p>
                      <a:r>
                        <a:rPr sz="1200" b="0">
                          <a:solidFill>
                            <a:srgbClr val="C2463F"/>
                          </a:solidFill>
                          <a:latin typeface="Calibri"/>
                        </a:rPr>
                        <a:t>Waits 1.5 days; avoids sensitive questions</a:t>
                      </a:r>
                    </a:p>
                  </a:txBody>
                  <a:tcPr marL="91440" marR="91440">
                    <a:solidFill>
                      <a:srgbClr val="FFFFFF"/>
                    </a:solidFill>
                  </a:tcPr>
                </a:tc>
                <a:tc>
                  <a:txBody>
                    <a:bodyPr/>
                    <a:lstStyle/>
                    <a:p>
                      <a:r>
                        <a:rPr sz="1200" b="0">
                          <a:solidFill>
                            <a:srgbClr val="0F766E"/>
                          </a:solidFill>
                          <a:latin typeface="Calibri"/>
                        </a:rPr>
                        <a:t>O1, O9</a:t>
                      </a:r>
                    </a:p>
                  </a:txBody>
                  <a:tcPr marL="91440" marR="91440">
                    <a:solidFill>
                      <a:srgbClr val="FFFFFF"/>
                    </a:solidFill>
                  </a:tcPr>
                </a:tc>
              </a:tr>
              <a:tr h="525780">
                <a:tc>
                  <a:txBody>
                    <a:bodyPr/>
                    <a:lstStyle/>
                    <a:p>
                      <a:r>
                        <a:rPr sz="1200" b="1">
                          <a:solidFill>
                            <a:srgbClr val="1D2B30"/>
                          </a:solidFill>
                          <a:latin typeface="Calibri"/>
                        </a:rPr>
                        <a:t>2. Who is asking?</a:t>
                      </a:r>
                    </a:p>
                  </a:txBody>
                  <a:tcPr marL="91440" marR="91440">
                    <a:solidFill>
                      <a:srgbClr val="EEF3F2"/>
                    </a:solidFill>
                  </a:tcPr>
                </a:tc>
                <a:tc>
                  <a:txBody>
                    <a:bodyPr/>
                    <a:lstStyle/>
                    <a:p>
                      <a:r>
                        <a:rPr sz="1200" b="0">
                          <a:solidFill>
                            <a:srgbClr val="1D2B30"/>
                          </a:solidFill>
                          <a:latin typeface="Calibri"/>
                        </a:rPr>
                        <a:t>HRBP checks Workday by hand</a:t>
                      </a:r>
                    </a:p>
                  </a:txBody>
                  <a:tcPr marL="91440" marR="91440">
                    <a:solidFill>
                      <a:srgbClr val="EEF3F2"/>
                    </a:solidFill>
                  </a:tcPr>
                </a:tc>
                <a:tc>
                  <a:txBody>
                    <a:bodyPr/>
                    <a:lstStyle/>
                    <a:p>
                      <a:r>
                        <a:rPr sz="1200" b="0">
                          <a:solidFill>
                            <a:srgbClr val="C2463F"/>
                          </a:solidFill>
                          <a:latin typeface="Calibri"/>
                        </a:rPr>
                        <a:t>Contractors given employee terms</a:t>
                      </a:r>
                    </a:p>
                  </a:txBody>
                  <a:tcPr marL="91440" marR="91440">
                    <a:solidFill>
                      <a:srgbClr val="EEF3F2"/>
                    </a:solidFill>
                  </a:tcPr>
                </a:tc>
                <a:tc>
                  <a:txBody>
                    <a:bodyPr/>
                    <a:lstStyle/>
                    <a:p>
                      <a:r>
                        <a:rPr sz="1200" b="0">
                          <a:solidFill>
                            <a:srgbClr val="0F766E"/>
                          </a:solidFill>
                          <a:latin typeface="Calibri"/>
                        </a:rPr>
                        <a:t>O2</a:t>
                      </a:r>
                    </a:p>
                  </a:txBody>
                  <a:tcPr marL="91440" marR="91440">
                    <a:solidFill>
                      <a:srgbClr val="EEF3F2"/>
                    </a:solidFill>
                  </a:tcPr>
                </a:tc>
              </a:tr>
              <a:tr h="525780">
                <a:tc>
                  <a:txBody>
                    <a:bodyPr/>
                    <a:lstStyle/>
                    <a:p>
                      <a:r>
                        <a:rPr sz="1200" b="1">
                          <a:solidFill>
                            <a:srgbClr val="1D2B30"/>
                          </a:solidFill>
                          <a:latin typeface="Calibri"/>
                        </a:rPr>
                        <a:t>3. Find the policy</a:t>
                      </a:r>
                    </a:p>
                  </a:txBody>
                  <a:tcPr marL="91440" marR="91440">
                    <a:solidFill>
                      <a:srgbClr val="FFFFFF"/>
                    </a:solidFill>
                  </a:tcPr>
                </a:tc>
                <a:tc>
                  <a:txBody>
                    <a:bodyPr/>
                    <a:lstStyle/>
                    <a:p>
                      <a:r>
                        <a:rPr sz="1200" b="0">
                          <a:solidFill>
                            <a:srgbClr val="1D2B30"/>
                          </a:solidFill>
                          <a:latin typeface="Calibri"/>
                        </a:rPr>
                        <a:t>Search 40 SharePoint documents, scanned PDFs, tables</a:t>
                      </a:r>
                    </a:p>
                  </a:txBody>
                  <a:tcPr marL="91440" marR="91440">
                    <a:solidFill>
                      <a:srgbClr val="FFFFFF"/>
                    </a:solidFill>
                  </a:tcPr>
                </a:tc>
                <a:tc>
                  <a:txBody>
                    <a:bodyPr/>
                    <a:lstStyle/>
                    <a:p>
                      <a:r>
                        <a:rPr sz="1200" b="0">
                          <a:solidFill>
                            <a:srgbClr val="C2463F"/>
                          </a:solidFill>
                          <a:latin typeface="Calibri"/>
                        </a:rPr>
                        <a:t>Two live travel versions; superseded files (8% wrong)</a:t>
                      </a:r>
                    </a:p>
                  </a:txBody>
                  <a:tcPr marL="91440" marR="91440">
                    <a:solidFill>
                      <a:srgbClr val="FFFFFF"/>
                    </a:solidFill>
                  </a:tcPr>
                </a:tc>
                <a:tc>
                  <a:txBody>
                    <a:bodyPr/>
                    <a:lstStyle/>
                    <a:p>
                      <a:r>
                        <a:rPr sz="1200" b="0">
                          <a:solidFill>
                            <a:srgbClr val="0F766E"/>
                          </a:solidFill>
                          <a:latin typeface="Calibri"/>
                        </a:rPr>
                        <a:t>O3, O4</a:t>
                      </a:r>
                    </a:p>
                  </a:txBody>
                  <a:tcPr marL="91440" marR="91440">
                    <a:solidFill>
                      <a:srgbClr val="FFFFFF"/>
                    </a:solidFill>
                  </a:tcPr>
                </a:tc>
              </a:tr>
              <a:tr h="525780">
                <a:tc>
                  <a:txBody>
                    <a:bodyPr/>
                    <a:lstStyle/>
                    <a:p>
                      <a:r>
                        <a:rPr sz="1200" b="1">
                          <a:solidFill>
                            <a:srgbClr val="1D2B30"/>
                          </a:solidFill>
                          <a:latin typeface="Calibri"/>
                        </a:rPr>
                        <a:t>4. Personal data</a:t>
                      </a:r>
                    </a:p>
                  </a:txBody>
                  <a:tcPr marL="91440" marR="91440">
                    <a:solidFill>
                      <a:srgbClr val="EEF3F2"/>
                    </a:solidFill>
                  </a:tcPr>
                </a:tc>
                <a:tc>
                  <a:txBody>
                    <a:bodyPr/>
                    <a:lstStyle/>
                    <a:p>
                      <a:r>
                        <a:rPr sz="1200" b="0">
                          <a:solidFill>
                            <a:srgbClr val="1D2B30"/>
                          </a:solidFill>
                          <a:latin typeface="Calibri"/>
                        </a:rPr>
                        <a:t>Workday for balance and joining date</a:t>
                      </a:r>
                    </a:p>
                  </a:txBody>
                  <a:tcPr marL="91440" marR="91440">
                    <a:solidFill>
                      <a:srgbClr val="EEF3F2"/>
                    </a:solidFill>
                  </a:tcPr>
                </a:tc>
                <a:tc>
                  <a:txBody>
                    <a:bodyPr/>
                    <a:lstStyle/>
                    <a:p>
                      <a:r>
                        <a:rPr sz="1200" b="0">
                          <a:solidFill>
                            <a:srgbClr val="C2463F"/>
                          </a:solidFill>
                          <a:latin typeface="Calibri"/>
                        </a:rPr>
                        <a:t>Balance questions always need a person</a:t>
                      </a:r>
                    </a:p>
                  </a:txBody>
                  <a:tcPr marL="91440" marR="91440">
                    <a:solidFill>
                      <a:srgbClr val="EEF3F2"/>
                    </a:solidFill>
                  </a:tcPr>
                </a:tc>
                <a:tc>
                  <a:txBody>
                    <a:bodyPr/>
                    <a:lstStyle/>
                    <a:p>
                      <a:r>
                        <a:rPr sz="1200" b="0">
                          <a:solidFill>
                            <a:srgbClr val="0F766E"/>
                          </a:solidFill>
                          <a:latin typeface="Calibri"/>
                        </a:rPr>
                        <a:t>O8</a:t>
                      </a:r>
                    </a:p>
                  </a:txBody>
                  <a:tcPr marL="91440" marR="91440">
                    <a:solidFill>
                      <a:srgbClr val="EEF3F2"/>
                    </a:solidFill>
                  </a:tcPr>
                </a:tc>
              </a:tr>
              <a:tr h="525780">
                <a:tc>
                  <a:txBody>
                    <a:bodyPr/>
                    <a:lstStyle/>
                    <a:p>
                      <a:r>
                        <a:rPr sz="1200" b="1">
                          <a:solidFill>
                            <a:srgbClr val="1D2B30"/>
                          </a:solidFill>
                          <a:latin typeface="Calibri"/>
                        </a:rPr>
                        <a:t>5. Reply and log</a:t>
                      </a:r>
                    </a:p>
                  </a:txBody>
                  <a:tcPr marL="91440" marR="91440">
                    <a:solidFill>
                      <a:srgbClr val="FFFFFF"/>
                    </a:solidFill>
                  </a:tcPr>
                </a:tc>
                <a:tc>
                  <a:txBody>
                    <a:bodyPr/>
                    <a:lstStyle/>
                    <a:p>
                      <a:r>
                        <a:rPr sz="1200" b="0">
                          <a:solidFill>
                            <a:srgbClr val="1D2B30"/>
                          </a:solidFill>
                          <a:latin typeface="Calibri"/>
                        </a:rPr>
                        <a:t>Write answer, paste link, log ticket</a:t>
                      </a:r>
                    </a:p>
                  </a:txBody>
                  <a:tcPr marL="91440" marR="91440">
                    <a:solidFill>
                      <a:srgbClr val="FFFFFF"/>
                    </a:solidFill>
                  </a:tcPr>
                </a:tc>
                <a:tc>
                  <a:txBody>
                    <a:bodyPr/>
                    <a:lstStyle/>
                    <a:p>
                      <a:r>
                        <a:rPr sz="1200" b="0">
                          <a:solidFill>
                            <a:srgbClr val="C2463F"/>
                          </a:solidFill>
                          <a:latin typeface="Calibri"/>
                        </a:rPr>
                        <a:t>18 minutes each; peaks swamp the team</a:t>
                      </a:r>
                    </a:p>
                  </a:txBody>
                  <a:tcPr marL="91440" marR="91440">
                    <a:solidFill>
                      <a:srgbClr val="FFFFFF"/>
                    </a:solidFill>
                  </a:tcPr>
                </a:tc>
                <a:tc>
                  <a:txBody>
                    <a:bodyPr/>
                    <a:lstStyle/>
                    <a:p>
                      <a:r>
                        <a:rPr sz="1200" b="0">
                          <a:solidFill>
                            <a:srgbClr val="0F766E"/>
                          </a:solidFill>
                          <a:latin typeface="Calibri"/>
                        </a:rPr>
                        <a:t>O1, O5</a:t>
                      </a:r>
                    </a:p>
                  </a:txBody>
                  <a:tcPr marL="91440" marR="91440">
                    <a:solidFill>
                      <a:srgbClr val="FFFFFF"/>
                    </a:solidFill>
                  </a:tcPr>
                </a:tc>
              </a:tr>
              <a:tr h="525780">
                <a:tc>
                  <a:txBody>
                    <a:bodyPr/>
                    <a:lstStyle/>
                    <a:p>
                      <a:r>
                        <a:rPr sz="1200" b="1">
                          <a:solidFill>
                            <a:srgbClr val="1D2B30"/>
                          </a:solidFill>
                          <a:latin typeface="Calibri"/>
                        </a:rPr>
                        <a:t>6. Sensitive cases</a:t>
                      </a:r>
                    </a:p>
                  </a:txBody>
                  <a:tcPr marL="91440" marR="91440">
                    <a:solidFill>
                      <a:srgbClr val="EEF3F2"/>
                    </a:solidFill>
                  </a:tcPr>
                </a:tc>
                <a:tc>
                  <a:txBody>
                    <a:bodyPr/>
                    <a:lstStyle/>
                    <a:p>
                      <a:r>
                        <a:rPr sz="1200" b="0">
                          <a:solidFill>
                            <a:srgbClr val="1D2B30"/>
                          </a:solidFill>
                          <a:latin typeface="Calibri"/>
                        </a:rPr>
                        <a:t>Harassment, medical, layoff in the same queue</a:t>
                      </a:r>
                    </a:p>
                  </a:txBody>
                  <a:tcPr marL="91440" marR="91440">
                    <a:solidFill>
                      <a:srgbClr val="EEF3F2"/>
                    </a:solidFill>
                  </a:tcPr>
                </a:tc>
                <a:tc>
                  <a:txBody>
                    <a:bodyPr/>
                    <a:lstStyle/>
                    <a:p>
                      <a:r>
                        <a:rPr sz="1200" b="0">
                          <a:solidFill>
                            <a:srgbClr val="C2463F"/>
                          </a:solidFill>
                          <a:latin typeface="Calibri"/>
                        </a:rPr>
                        <a:t>Wait behind routine questions; read as promises</a:t>
                      </a:r>
                    </a:p>
                  </a:txBody>
                  <a:tcPr marL="91440" marR="91440">
                    <a:solidFill>
                      <a:srgbClr val="EEF3F2"/>
                    </a:solidFill>
                  </a:tcPr>
                </a:tc>
                <a:tc>
                  <a:txBody>
                    <a:bodyPr/>
                    <a:lstStyle/>
                    <a:p>
                      <a:r>
                        <a:rPr sz="1200" b="0">
                          <a:solidFill>
                            <a:srgbClr val="0F766E"/>
                          </a:solidFill>
                          <a:latin typeface="Calibri"/>
                        </a:rPr>
                        <a:t>O6, O7</a:t>
                      </a:r>
                    </a:p>
                  </a:txBody>
                  <a:tcPr marL="91440" marR="91440">
                    <a:solidFill>
                      <a:srgbClr val="EEF3F2"/>
                    </a:solidFill>
                  </a:tcPr>
                </a:tc>
              </a:tr>
              <a:tr h="525780">
                <a:tc>
                  <a:txBody>
                    <a:bodyPr/>
                    <a:lstStyle/>
                    <a:p>
                      <a:r>
                        <a:rPr sz="1200" b="1">
                          <a:solidFill>
                            <a:srgbClr val="1D2B30"/>
                          </a:solidFill>
                          <a:latin typeface="Calibri"/>
                        </a:rPr>
                        <a:t>7. Policy updates</a:t>
                      </a:r>
                    </a:p>
                  </a:txBody>
                  <a:tcPr marL="91440" marR="91440">
                    <a:solidFill>
                      <a:srgbClr val="FFFFFF"/>
                    </a:solidFill>
                  </a:tcPr>
                </a:tc>
                <a:tc>
                  <a:txBody>
                    <a:bodyPr/>
                    <a:lstStyle/>
                    <a:p>
                      <a:r>
                        <a:rPr sz="1200" b="0">
                          <a:solidFill>
                            <a:srgbClr val="1D2B30"/>
                          </a:solidFill>
                          <a:latin typeface="Calibri"/>
                        </a:rPr>
                        <a:t>About 10 a quarter, no format or owner</a:t>
                      </a:r>
                    </a:p>
                  </a:txBody>
                  <a:tcPr marL="91440" marR="91440">
                    <a:solidFill>
                      <a:srgbClr val="FFFFFF"/>
                    </a:solidFill>
                  </a:tcPr>
                </a:tc>
                <a:tc>
                  <a:txBody>
                    <a:bodyPr/>
                    <a:lstStyle/>
                    <a:p>
                      <a:r>
                        <a:rPr sz="1200" b="0">
                          <a:solidFill>
                            <a:srgbClr val="C2463F"/>
                          </a:solidFill>
                          <a:latin typeface="Calibri"/>
                        </a:rPr>
                        <a:t>Nobody knows which version is live</a:t>
                      </a:r>
                    </a:p>
                  </a:txBody>
                  <a:tcPr marL="91440" marR="91440">
                    <a:solidFill>
                      <a:srgbClr val="FFFFFF"/>
                    </a:solidFill>
                  </a:tcPr>
                </a:tc>
                <a:tc>
                  <a:txBody>
                    <a:bodyPr/>
                    <a:lstStyle/>
                    <a:p>
                      <a:r>
                        <a:rPr sz="1200" b="0">
                          <a:solidFill>
                            <a:srgbClr val="0F766E"/>
                          </a:solidFill>
                          <a:latin typeface="Calibri"/>
                        </a:rPr>
                        <a:t>O4, O11</a:t>
                      </a:r>
                    </a:p>
                  </a:txBody>
                  <a:tcPr marL="91440" marR="91440">
                    <a:solidFill>
                      <a:srgbClr val="FFFFFF"/>
                    </a:solidFill>
                  </a:tcPr>
                </a:tc>
              </a:tr>
            </a:tbl>
          </a:graphicData>
        </a:graphic>
      </p:graphicFrame>
      <p:sp>
        <p:nvSpPr>
          <p:cNvPr id="4" name="TextBox 3"/>
          <p:cNvSpPr txBox="1"/>
          <p:nvPr/>
        </p:nvSpPr>
        <p:spPr>
          <a:xfrm>
            <a:off x="548640" y="5989320"/>
            <a:ext cx="9509760" cy="274320"/>
          </a:xfrm>
          <a:prstGeom prst="rect">
            <a:avLst/>
          </a:prstGeom>
          <a:noFill/>
        </p:spPr>
        <p:txBody>
          <a:bodyPr wrap="square" lIns="0" rIns="0" tIns="18288" bIns="18288" anchor="t">
            <a:spAutoFit/>
          </a:bodyPr>
          <a:lstStyle/>
          <a:p>
            <a:pPr algn="l"/>
            <a:r>
              <a:rPr sz="900" b="0" i="1">
                <a:solidFill>
                  <a:srgbClr val="5F6B70"/>
                </a:solidFill>
                <a:latin typeface="Calibri"/>
              </a:rPr>
              <a:t>Source: Problem Discovery and AI Opportunity Map (Miro frame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We scored 15 AI opportunities and built the seven Do-first ideas</a:t>
            </a:r>
          </a:p>
        </p:txBody>
      </p:sp>
      <p:graphicFrame>
        <p:nvGraphicFramePr>
          <p:cNvPr id="3" name="Chart 2"/>
          <p:cNvGraphicFramePr>
            <a:graphicFrameLocks noGrp="1"/>
          </p:cNvGraphicFramePr>
          <p:nvPr/>
        </p:nvGraphicFramePr>
        <p:xfrm>
          <a:off x="548640" y="1325880"/>
          <a:ext cx="7589520" cy="4617720"/>
        </p:xfrm>
        <a:graphic>
          <a:graphicData uri="http://schemas.openxmlformats.org/drawingml/2006/chart">
            <c:chart xmlns:c="http://schemas.openxmlformats.org/drawingml/2006/chart" r:id="rId3"/>
          </a:graphicData>
        </a:graphic>
      </p:graphicFrame>
      <p:sp>
        <p:nvSpPr>
          <p:cNvPr id="4" name="Rectangle 3"/>
          <p:cNvSpPr/>
          <p:nvPr/>
        </p:nvSpPr>
        <p:spPr>
          <a:xfrm>
            <a:off x="8366760" y="1371600"/>
            <a:ext cx="3246120" cy="21488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1352" y="1503273"/>
            <a:ext cx="2916936" cy="1885492"/>
          </a:xfrm>
          <a:prstGeom prst="rect">
            <a:avLst/>
          </a:prstGeom>
          <a:noFill/>
        </p:spPr>
        <p:txBody>
          <a:bodyPr wrap="square" lIns="0" rIns="0" tIns="18288" bIns="18288" anchor="t">
            <a:spAutoFit/>
          </a:bodyPr>
          <a:lstStyle/>
          <a:p>
            <a:pPr algn="l"/>
            <a:r>
              <a:rPr sz="1300" b="1" i="0">
                <a:solidFill>
                  <a:srgbClr val="0F766E"/>
                </a:solidFill>
                <a:latin typeface="Calibri"/>
              </a:rPr>
              <a:t>Built: the seven Do-first ideas</a:t>
            </a:r>
          </a:p>
          <a:p>
            <a:pPr algn="l">
              <a:spcBef>
                <a:spcPts val="400"/>
              </a:spcBef>
            </a:pPr>
            <a:r>
              <a:rPr sz="1150" b="0" i="0">
                <a:solidFill>
                  <a:srgbClr val="1D2B30"/>
                </a:solidFill>
                <a:latin typeface="Calibri"/>
              </a:rPr>
              <a:t>Answers, eligibility and version filters, triage, redaction and the verification guard together hit the 60% goal without risking a wrong answer.</a:t>
            </a:r>
          </a:p>
        </p:txBody>
      </p:sp>
      <p:sp>
        <p:nvSpPr>
          <p:cNvPr id="6" name="Rectangle 5"/>
          <p:cNvSpPr/>
          <p:nvPr/>
        </p:nvSpPr>
        <p:spPr>
          <a:xfrm>
            <a:off x="8366760" y="3703320"/>
            <a:ext cx="3246120" cy="2194560"/>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2" y="3834993"/>
            <a:ext cx="2916936" cy="1931212"/>
          </a:xfrm>
          <a:prstGeom prst="rect">
            <a:avLst/>
          </a:prstGeom>
          <a:noFill/>
        </p:spPr>
        <p:txBody>
          <a:bodyPr wrap="square" lIns="0" rIns="0" tIns="18288" bIns="18288" anchor="t">
            <a:spAutoFit/>
          </a:bodyPr>
          <a:lstStyle/>
          <a:p>
            <a:pPr algn="l"/>
            <a:r>
              <a:rPr sz="1300" b="1" i="0">
                <a:solidFill>
                  <a:srgbClr val="C2463F"/>
                </a:solidFill>
                <a:latin typeface="Calibri"/>
              </a:rPr>
              <a:t>Parked on purpose</a:t>
            </a:r>
          </a:p>
          <a:p>
            <a:pPr algn="l">
              <a:spcBef>
                <a:spcPts val="400"/>
              </a:spcBef>
            </a:pPr>
            <a:r>
              <a:rPr sz="1150" b="0" i="0">
                <a:solidFill>
                  <a:srgbClr val="1D2B30"/>
                </a:solidFill>
                <a:latin typeface="Calibri"/>
              </a:rPr>
              <a:t>Auto-answering from old tickets copies the 8% error rate. AI never handles grievances or gives legal opinions. Predicting attrition from chats would destroy trust.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Four features, one rule: people handle the sensitive cases</a:t>
            </a:r>
          </a:p>
        </p:txBody>
      </p:sp>
      <p:sp>
        <p:nvSpPr>
          <p:cNvPr id="3" name="Rectangle 2"/>
          <p:cNvSpPr/>
          <p:nvPr/>
        </p:nvSpPr>
        <p:spPr>
          <a:xfrm>
            <a:off x="548640" y="1371600"/>
            <a:ext cx="2606040" cy="3017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72768"/>
            <a:ext cx="502920" cy="384048"/>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F1</a:t>
            </a:r>
          </a:p>
        </p:txBody>
      </p:sp>
      <p:sp>
        <p:nvSpPr>
          <p:cNvPr id="5" name="TextBox 4"/>
          <p:cNvSpPr txBox="1"/>
          <p:nvPr/>
        </p:nvSpPr>
        <p:spPr>
          <a:xfrm>
            <a:off x="749808" y="2103120"/>
            <a:ext cx="2240280" cy="365760"/>
          </a:xfrm>
          <a:prstGeom prst="rect">
            <a:avLst/>
          </a:prstGeom>
          <a:noFill/>
        </p:spPr>
        <p:txBody>
          <a:bodyPr wrap="square" lIns="0" rIns="0" tIns="18288" bIns="18288" anchor="t">
            <a:spAutoFit/>
          </a:bodyPr>
          <a:lstStyle/>
          <a:p>
            <a:pPr algn="l"/>
            <a:r>
              <a:rPr sz="1400" b="1" i="0">
                <a:solidFill>
                  <a:srgbClr val="14424C"/>
                </a:solidFill>
                <a:latin typeface="Calibri"/>
              </a:rPr>
              <a:t>Grounded answers</a:t>
            </a:r>
          </a:p>
        </p:txBody>
      </p:sp>
      <p:sp>
        <p:nvSpPr>
          <p:cNvPr id="6" name="TextBox 5"/>
          <p:cNvSpPr txBox="1"/>
          <p:nvPr/>
        </p:nvSpPr>
        <p:spPr>
          <a:xfrm>
            <a:off x="749808" y="2514600"/>
            <a:ext cx="2240280" cy="1554480"/>
          </a:xfrm>
          <a:prstGeom prst="rect">
            <a:avLst/>
          </a:prstGeom>
          <a:noFill/>
        </p:spPr>
        <p:txBody>
          <a:bodyPr wrap="square" lIns="0" rIns="0" tIns="18288" bIns="18288" anchor="t">
            <a:spAutoFit/>
          </a:bodyPr>
          <a:lstStyle/>
          <a:p>
            <a:pPr algn="l"/>
            <a:r>
              <a:rPr sz="1150" b="0" i="0">
                <a:solidFill>
                  <a:srgbClr val="1D2B30"/>
                </a:solidFill>
                <a:latin typeface="Calibri"/>
              </a:rPr>
              <a:t>Short answer from the employee's live policy, with a link to the exact section. Grade and service tables personalised.</a:t>
            </a:r>
          </a:p>
        </p:txBody>
      </p:sp>
      <p:sp>
        <p:nvSpPr>
          <p:cNvPr id="7" name="TextBox 6"/>
          <p:cNvSpPr txBox="1"/>
          <p:nvPr/>
        </p:nvSpPr>
        <p:spPr>
          <a:xfrm>
            <a:off x="749808" y="4023360"/>
            <a:ext cx="2240280" cy="274320"/>
          </a:xfrm>
          <a:prstGeom prst="rect">
            <a:avLst/>
          </a:prstGeom>
          <a:noFill/>
        </p:spPr>
        <p:txBody>
          <a:bodyPr wrap="square" lIns="0" rIns="0" tIns="18288" bIns="18288" anchor="t">
            <a:spAutoFit/>
          </a:bodyPr>
          <a:lstStyle/>
          <a:p>
            <a:pPr algn="l"/>
            <a:r>
              <a:rPr sz="1000" b="1" i="0">
                <a:solidFill>
                  <a:srgbClr val="0F766E"/>
                </a:solidFill>
                <a:latin typeface="Calibri"/>
              </a:rPr>
              <a:t>Opportunity O1, O3</a:t>
            </a:r>
          </a:p>
        </p:txBody>
      </p:sp>
      <p:sp>
        <p:nvSpPr>
          <p:cNvPr id="8" name="Rectangle 7"/>
          <p:cNvSpPr/>
          <p:nvPr/>
        </p:nvSpPr>
        <p:spPr>
          <a:xfrm>
            <a:off x="3337560" y="1371600"/>
            <a:ext cx="2606040" cy="3017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38728" y="1572768"/>
            <a:ext cx="502920" cy="384048"/>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F2</a:t>
            </a:r>
          </a:p>
        </p:txBody>
      </p:sp>
      <p:sp>
        <p:nvSpPr>
          <p:cNvPr id="10" name="TextBox 9"/>
          <p:cNvSpPr txBox="1"/>
          <p:nvPr/>
        </p:nvSpPr>
        <p:spPr>
          <a:xfrm>
            <a:off x="3538728" y="2103120"/>
            <a:ext cx="2240280" cy="365760"/>
          </a:xfrm>
          <a:prstGeom prst="rect">
            <a:avLst/>
          </a:prstGeom>
          <a:noFill/>
        </p:spPr>
        <p:txBody>
          <a:bodyPr wrap="square" lIns="0" rIns="0" tIns="18288" bIns="18288" anchor="t">
            <a:spAutoFit/>
          </a:bodyPr>
          <a:lstStyle/>
          <a:p>
            <a:pPr algn="l"/>
            <a:r>
              <a:rPr sz="1400" b="1" i="0">
                <a:solidFill>
                  <a:srgbClr val="14424C"/>
                </a:solidFill>
                <a:latin typeface="Calibri"/>
              </a:rPr>
              <a:t>Profile and version filter</a:t>
            </a:r>
          </a:p>
        </p:txBody>
      </p:sp>
      <p:sp>
        <p:nvSpPr>
          <p:cNvPr id="11" name="TextBox 10"/>
          <p:cNvSpPr txBox="1"/>
          <p:nvPr/>
        </p:nvSpPr>
        <p:spPr>
          <a:xfrm>
            <a:off x="3538728" y="2514600"/>
            <a:ext cx="2240280" cy="1554480"/>
          </a:xfrm>
          <a:prstGeom prst="rect">
            <a:avLst/>
          </a:prstGeom>
          <a:noFill/>
        </p:spPr>
        <p:txBody>
          <a:bodyPr wrap="square" lIns="0" rIns="0" tIns="18288" bIns="18288" anchor="t">
            <a:spAutoFit/>
          </a:bodyPr>
          <a:lstStyle/>
          <a:p>
            <a:pPr algn="l"/>
            <a:r>
              <a:rPr sz="1150" b="0" i="0">
                <a:solidFill>
                  <a:srgbClr val="1D2B30"/>
                </a:solidFill>
                <a:latin typeface="Calibri"/>
              </a:rPr>
              <a:t>Country, grade and contract come from Workday, never the chat. Other countries and old versions are removed before search.</a:t>
            </a:r>
          </a:p>
        </p:txBody>
      </p:sp>
      <p:sp>
        <p:nvSpPr>
          <p:cNvPr id="12" name="TextBox 11"/>
          <p:cNvSpPr txBox="1"/>
          <p:nvPr/>
        </p:nvSpPr>
        <p:spPr>
          <a:xfrm>
            <a:off x="3538728" y="4023360"/>
            <a:ext cx="2240280" cy="274320"/>
          </a:xfrm>
          <a:prstGeom prst="rect">
            <a:avLst/>
          </a:prstGeom>
          <a:noFill/>
        </p:spPr>
        <p:txBody>
          <a:bodyPr wrap="square" lIns="0" rIns="0" tIns="18288" bIns="18288" anchor="t">
            <a:spAutoFit/>
          </a:bodyPr>
          <a:lstStyle/>
          <a:p>
            <a:pPr algn="l"/>
            <a:r>
              <a:rPr sz="1000" b="1" i="0">
                <a:solidFill>
                  <a:srgbClr val="0F766E"/>
                </a:solidFill>
                <a:latin typeface="Calibri"/>
              </a:rPr>
              <a:t>Opportunity O2, O3</a:t>
            </a:r>
          </a:p>
        </p:txBody>
      </p:sp>
      <p:sp>
        <p:nvSpPr>
          <p:cNvPr id="13" name="Rectangle 12"/>
          <p:cNvSpPr/>
          <p:nvPr/>
        </p:nvSpPr>
        <p:spPr>
          <a:xfrm>
            <a:off x="6126479" y="1371600"/>
            <a:ext cx="2606040" cy="3017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572768"/>
            <a:ext cx="502920" cy="384048"/>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F3</a:t>
            </a:r>
          </a:p>
        </p:txBody>
      </p:sp>
      <p:sp>
        <p:nvSpPr>
          <p:cNvPr id="15" name="TextBox 14"/>
          <p:cNvSpPr txBox="1"/>
          <p:nvPr/>
        </p:nvSpPr>
        <p:spPr>
          <a:xfrm>
            <a:off x="6327647" y="2103120"/>
            <a:ext cx="2240280" cy="365760"/>
          </a:xfrm>
          <a:prstGeom prst="rect">
            <a:avLst/>
          </a:prstGeom>
          <a:noFill/>
        </p:spPr>
        <p:txBody>
          <a:bodyPr wrap="square" lIns="0" rIns="0" tIns="18288" bIns="18288" anchor="t">
            <a:spAutoFit/>
          </a:bodyPr>
          <a:lstStyle/>
          <a:p>
            <a:pPr algn="l"/>
            <a:r>
              <a:rPr sz="1400" b="1" i="0">
                <a:solidFill>
                  <a:srgbClr val="14424C"/>
                </a:solidFill>
                <a:latin typeface="Calibri"/>
              </a:rPr>
              <a:t>Safety triage and hand-off</a:t>
            </a:r>
          </a:p>
        </p:txBody>
      </p:sp>
      <p:sp>
        <p:nvSpPr>
          <p:cNvPr id="16" name="TextBox 15"/>
          <p:cNvSpPr txBox="1"/>
          <p:nvPr/>
        </p:nvSpPr>
        <p:spPr>
          <a:xfrm>
            <a:off x="6327647" y="2514600"/>
            <a:ext cx="2240280" cy="1554480"/>
          </a:xfrm>
          <a:prstGeom prst="rect">
            <a:avLst/>
          </a:prstGeom>
          <a:noFill/>
        </p:spPr>
        <p:txBody>
          <a:bodyPr wrap="square" lIns="0" rIns="0" tIns="18288" bIns="18288" anchor="t">
            <a:spAutoFit/>
          </a:bodyPr>
          <a:lstStyle/>
          <a:p>
            <a:pPr algn="l"/>
            <a:r>
              <a:rPr sz="1150" b="0" i="0">
                <a:solidFill>
                  <a:srgbClr val="1D2B30"/>
                </a:solidFill>
                <a:latin typeface="Calibri"/>
              </a:rPr>
              <a:t>Harassment, health, layoff, legal and pay problems go to a named HR queue with a summary. The employee approves; crisis goes at once.</a:t>
            </a:r>
          </a:p>
        </p:txBody>
      </p:sp>
      <p:sp>
        <p:nvSpPr>
          <p:cNvPr id="17" name="TextBox 16"/>
          <p:cNvSpPr txBox="1"/>
          <p:nvPr/>
        </p:nvSpPr>
        <p:spPr>
          <a:xfrm>
            <a:off x="6327647" y="4023360"/>
            <a:ext cx="2240280" cy="274320"/>
          </a:xfrm>
          <a:prstGeom prst="rect">
            <a:avLst/>
          </a:prstGeom>
          <a:noFill/>
        </p:spPr>
        <p:txBody>
          <a:bodyPr wrap="square" lIns="0" rIns="0" tIns="18288" bIns="18288" anchor="t">
            <a:spAutoFit/>
          </a:bodyPr>
          <a:lstStyle/>
          <a:p>
            <a:pPr algn="l"/>
            <a:r>
              <a:rPr sz="1000" b="1" i="0">
                <a:solidFill>
                  <a:srgbClr val="0F766E"/>
                </a:solidFill>
                <a:latin typeface="Calibri"/>
              </a:rPr>
              <a:t>Opportunity O6, O7</a:t>
            </a:r>
          </a:p>
        </p:txBody>
      </p:sp>
      <p:sp>
        <p:nvSpPr>
          <p:cNvPr id="18" name="Rectangle 17"/>
          <p:cNvSpPr/>
          <p:nvPr/>
        </p:nvSpPr>
        <p:spPr>
          <a:xfrm>
            <a:off x="8915399" y="1371600"/>
            <a:ext cx="2606040" cy="3017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16567" y="1572768"/>
            <a:ext cx="502920" cy="384048"/>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F4</a:t>
            </a:r>
          </a:p>
        </p:txBody>
      </p:sp>
      <p:sp>
        <p:nvSpPr>
          <p:cNvPr id="20" name="TextBox 19"/>
          <p:cNvSpPr txBox="1"/>
          <p:nvPr/>
        </p:nvSpPr>
        <p:spPr>
          <a:xfrm>
            <a:off x="9116567" y="2103120"/>
            <a:ext cx="2240280" cy="365760"/>
          </a:xfrm>
          <a:prstGeom prst="rect">
            <a:avLst/>
          </a:prstGeom>
          <a:noFill/>
        </p:spPr>
        <p:txBody>
          <a:bodyPr wrap="square" lIns="0" rIns="0" tIns="18288" bIns="18288" anchor="t">
            <a:spAutoFit/>
          </a:bodyPr>
          <a:lstStyle/>
          <a:p>
            <a:pPr algn="l"/>
            <a:r>
              <a:rPr sz="1400" b="1" i="0">
                <a:solidFill>
                  <a:srgbClr val="14424C"/>
                </a:solidFill>
                <a:latin typeface="Calibri"/>
              </a:rPr>
              <a:t>Verification guard</a:t>
            </a:r>
          </a:p>
        </p:txBody>
      </p:sp>
      <p:sp>
        <p:nvSpPr>
          <p:cNvPr id="21" name="TextBox 20"/>
          <p:cNvSpPr txBox="1"/>
          <p:nvPr/>
        </p:nvSpPr>
        <p:spPr>
          <a:xfrm>
            <a:off x="9116567" y="2514600"/>
            <a:ext cx="2240280" cy="1554480"/>
          </a:xfrm>
          <a:prstGeom prst="rect">
            <a:avLst/>
          </a:prstGeom>
          <a:noFill/>
        </p:spPr>
        <p:txBody>
          <a:bodyPr wrap="square" lIns="0" rIns="0" tIns="18288" bIns="18288" anchor="t">
            <a:spAutoFit/>
          </a:bodyPr>
          <a:lstStyle/>
          <a:p>
            <a:pPr algn="l"/>
            <a:r>
              <a:rPr sz="1150" b="0" i="0">
                <a:solidFill>
                  <a:srgbClr val="1D2B30"/>
                </a:solidFill>
                <a:latin typeface="Calibri"/>
              </a:rPr>
              <a:t>Every answer must cite a retrieved section, every number must appear in it, and there are no promises or legal advice.</a:t>
            </a:r>
          </a:p>
        </p:txBody>
      </p:sp>
      <p:sp>
        <p:nvSpPr>
          <p:cNvPr id="22" name="TextBox 21"/>
          <p:cNvSpPr txBox="1"/>
          <p:nvPr/>
        </p:nvSpPr>
        <p:spPr>
          <a:xfrm>
            <a:off x="9116567" y="4023360"/>
            <a:ext cx="2240280" cy="274320"/>
          </a:xfrm>
          <a:prstGeom prst="rect">
            <a:avLst/>
          </a:prstGeom>
          <a:noFill/>
        </p:spPr>
        <p:txBody>
          <a:bodyPr wrap="square" lIns="0" rIns="0" tIns="18288" bIns="18288" anchor="t">
            <a:spAutoFit/>
          </a:bodyPr>
          <a:lstStyle/>
          <a:p>
            <a:pPr algn="l"/>
            <a:r>
              <a:rPr sz="1000" b="1" i="0">
                <a:solidFill>
                  <a:srgbClr val="0F766E"/>
                </a:solidFill>
                <a:latin typeface="Calibri"/>
              </a:rPr>
              <a:t>Opportunity O5</a:t>
            </a:r>
          </a:p>
        </p:txBody>
      </p:sp>
      <p:sp>
        <p:nvSpPr>
          <p:cNvPr id="23" name="Rectangle 22"/>
          <p:cNvSpPr/>
          <p:nvPr/>
        </p:nvSpPr>
        <p:spPr>
          <a:xfrm>
            <a:off x="548640" y="4617720"/>
            <a:ext cx="11064240" cy="1188720"/>
          </a:xfrm>
          <a:prstGeom prst="rect">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754880"/>
            <a:ext cx="10607040" cy="914400"/>
          </a:xfrm>
          <a:prstGeom prst="rect">
            <a:avLst/>
          </a:prstGeom>
          <a:noFill/>
        </p:spPr>
        <p:txBody>
          <a:bodyPr wrap="square" lIns="0" rIns="0" tIns="18288" bIns="18288" anchor="t">
            <a:spAutoFit/>
          </a:bodyPr>
          <a:lstStyle/>
          <a:p>
            <a:pPr algn="l"/>
            <a:r>
              <a:rPr sz="1400" b="1" i="0">
                <a:solidFill>
                  <a:srgbClr val="E8A33D"/>
                </a:solidFill>
                <a:latin typeface="Calibri"/>
              </a:rPr>
              <a:t>Rules before AI. </a:t>
            </a:r>
            <a:r>
              <a:rPr sz="1400" b="0" i="0">
                <a:solidFill>
                  <a:srgbClr val="FFFFFF"/>
                </a:solidFill>
                <a:latin typeface="Calibri"/>
              </a:rPr>
              <a:t>Sensitive messages are caught by rules before any model call, so they never reach an AI provider. If no live policy matches, AskHR says so and offers an HR partner. It never guesses, never approves leave, and never changes pay.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Emma asks about London hotels: two live versions, both cited</a:t>
            </a:r>
          </a:p>
        </p:txBody>
      </p:sp>
      <p:pic>
        <p:nvPicPr>
          <p:cNvPr id="3" name="Picture 2" descr="01-uk-travel.png"/>
          <p:cNvPicPr>
            <a:picLocks noChangeAspect="1"/>
          </p:cNvPicPr>
          <p:nvPr/>
        </p:nvPicPr>
        <p:blipFill>
          <a:blip r:embed="rId3"/>
          <a:srcRect/>
          <a:stretch>
            <a:fillRect/>
          </a:stretch>
        </p:blipFill>
        <p:spPr>
          <a:xfrm>
            <a:off x="548640" y="1325880"/>
            <a:ext cx="7315200" cy="4370832"/>
          </a:xfrm>
          <a:prstGeom prst="rect">
            <a:avLst/>
          </a:prstGeom>
          <a:ln w="9525">
            <a:solidFill>
              <a:srgbClr val="C9D3D1"/>
            </a:solidFill>
          </a:ln>
        </p:spPr>
      </p:pic>
      <p:sp>
        <p:nvSpPr>
          <p:cNvPr id="4" name="Oval 3"/>
          <p:cNvSpPr/>
          <p:nvPr/>
        </p:nvSpPr>
        <p:spPr>
          <a:xfrm>
            <a:off x="8183879" y="1371600"/>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5" name="TextBox 4"/>
          <p:cNvSpPr txBox="1"/>
          <p:nvPr/>
        </p:nvSpPr>
        <p:spPr>
          <a:xfrm>
            <a:off x="8686800" y="1353312"/>
            <a:ext cx="2926080" cy="320040"/>
          </a:xfrm>
          <a:prstGeom prst="rect">
            <a:avLst/>
          </a:prstGeom>
          <a:noFill/>
        </p:spPr>
        <p:txBody>
          <a:bodyPr wrap="square" lIns="0" rIns="0" tIns="18288" bIns="18288" anchor="t">
            <a:spAutoFit/>
          </a:bodyPr>
          <a:lstStyle/>
          <a:p>
            <a:pPr algn="l"/>
            <a:r>
              <a:rPr sz="1300" b="1" i="0">
                <a:solidFill>
                  <a:srgbClr val="14424C"/>
                </a:solidFill>
                <a:latin typeface="Calibri"/>
              </a:rPr>
              <a:t>Profile from Workday</a:t>
            </a:r>
          </a:p>
        </p:txBody>
      </p:sp>
      <p:sp>
        <p:nvSpPr>
          <p:cNvPr id="6" name="TextBox 5"/>
          <p:cNvSpPr txBox="1"/>
          <p:nvPr/>
        </p:nvSpPr>
        <p:spPr>
          <a:xfrm>
            <a:off x="8686800" y="1673352"/>
            <a:ext cx="2926080" cy="731520"/>
          </a:xfrm>
          <a:prstGeom prst="rect">
            <a:avLst/>
          </a:prstGeom>
          <a:noFill/>
        </p:spPr>
        <p:txBody>
          <a:bodyPr wrap="square" lIns="0" rIns="0" tIns="18288" bIns="18288" anchor="t">
            <a:spAutoFit/>
          </a:bodyPr>
          <a:lstStyle/>
          <a:p>
            <a:pPr algn="l"/>
            <a:r>
              <a:rPr sz="1100" b="0" i="0">
                <a:solidFill>
                  <a:srgbClr val="1D2B30"/>
                </a:solidFill>
                <a:latin typeface="Calibri"/>
              </a:rPr>
              <a:t>UK, G4, employee, 6 years. Never taken from the chat.</a:t>
            </a:r>
          </a:p>
        </p:txBody>
      </p:sp>
      <p:sp>
        <p:nvSpPr>
          <p:cNvPr id="7" name="Oval 6"/>
          <p:cNvSpPr/>
          <p:nvPr/>
        </p:nvSpPr>
        <p:spPr>
          <a:xfrm>
            <a:off x="8183879" y="2468880"/>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8" name="TextBox 7"/>
          <p:cNvSpPr txBox="1"/>
          <p:nvPr/>
        </p:nvSpPr>
        <p:spPr>
          <a:xfrm>
            <a:off x="8686800" y="2450592"/>
            <a:ext cx="2926080" cy="320040"/>
          </a:xfrm>
          <a:prstGeom prst="rect">
            <a:avLst/>
          </a:prstGeom>
          <a:noFill/>
        </p:spPr>
        <p:txBody>
          <a:bodyPr wrap="square" lIns="0" rIns="0" tIns="18288" bIns="18288" anchor="t">
            <a:spAutoFit/>
          </a:bodyPr>
          <a:lstStyle/>
          <a:p>
            <a:pPr algn="l"/>
            <a:r>
              <a:rPr sz="1300" b="1" i="0">
                <a:solidFill>
                  <a:srgbClr val="14424C"/>
                </a:solidFill>
                <a:latin typeface="Calibri"/>
              </a:rPr>
              <a:t>Both live versions</a:t>
            </a:r>
          </a:p>
        </p:txBody>
      </p:sp>
      <p:sp>
        <p:nvSpPr>
          <p:cNvPr id="9" name="TextBox 8"/>
          <p:cNvSpPr txBox="1"/>
          <p:nvPr/>
        </p:nvSpPr>
        <p:spPr>
          <a:xfrm>
            <a:off x="8686800" y="2770632"/>
            <a:ext cx="2926080" cy="731520"/>
          </a:xfrm>
          <a:prstGeom prst="rect">
            <a:avLst/>
          </a:prstGeom>
          <a:noFill/>
        </p:spPr>
        <p:txBody>
          <a:bodyPr wrap="square" lIns="0" rIns="0" tIns="18288" bIns="18288" anchor="t">
            <a:spAutoFit/>
          </a:bodyPr>
          <a:lstStyle/>
          <a:p>
            <a:pPr algn="l"/>
            <a:r>
              <a:rPr sz="1100" b="0" i="0">
                <a:solidFill>
                  <a:srgbClr val="1D2B30"/>
                </a:solidFill>
                <a:latin typeface="Calibri"/>
              </a:rPr>
              <a:t>v4.0 and v5.0 shown with the booking date that decides which applies.</a:t>
            </a:r>
          </a:p>
        </p:txBody>
      </p:sp>
      <p:sp>
        <p:nvSpPr>
          <p:cNvPr id="10" name="Oval 9"/>
          <p:cNvSpPr/>
          <p:nvPr/>
        </p:nvSpPr>
        <p:spPr>
          <a:xfrm>
            <a:off x="8183879" y="3566160"/>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1" name="TextBox 10"/>
          <p:cNvSpPr txBox="1"/>
          <p:nvPr/>
        </p:nvSpPr>
        <p:spPr>
          <a:xfrm>
            <a:off x="8686800" y="3547872"/>
            <a:ext cx="2926080" cy="320040"/>
          </a:xfrm>
          <a:prstGeom prst="rect">
            <a:avLst/>
          </a:prstGeom>
          <a:noFill/>
        </p:spPr>
        <p:txBody>
          <a:bodyPr wrap="square" lIns="0" rIns="0" tIns="18288" bIns="18288" anchor="t">
            <a:spAutoFit/>
          </a:bodyPr>
          <a:lstStyle/>
          <a:p>
            <a:pPr algn="l"/>
            <a:r>
              <a:rPr sz="1300" b="1" i="0">
                <a:solidFill>
                  <a:srgbClr val="14424C"/>
                </a:solidFill>
                <a:latin typeface="Calibri"/>
              </a:rPr>
              <a:t>Exact section links</a:t>
            </a:r>
          </a:p>
        </p:txBody>
      </p:sp>
      <p:sp>
        <p:nvSpPr>
          <p:cNvPr id="12" name="TextBox 11"/>
          <p:cNvSpPr txBox="1"/>
          <p:nvPr/>
        </p:nvSpPr>
        <p:spPr>
          <a:xfrm>
            <a:off x="8686800" y="3867911"/>
            <a:ext cx="2926080" cy="731520"/>
          </a:xfrm>
          <a:prstGeom prst="rect">
            <a:avLst/>
          </a:prstGeom>
          <a:noFill/>
        </p:spPr>
        <p:txBody>
          <a:bodyPr wrap="square" lIns="0" rIns="0" tIns="18288" bIns="18288" anchor="t">
            <a:spAutoFit/>
          </a:bodyPr>
          <a:lstStyle/>
          <a:p>
            <a:pPr algn="l"/>
            <a:r>
              <a:rPr sz="1100" b="0" i="0">
                <a:solidFill>
                  <a:srgbClr val="1D2B30"/>
                </a:solidFill>
                <a:latin typeface="Calibri"/>
              </a:rPr>
              <a:t>Every answer cites the policy section it came from.</a:t>
            </a:r>
          </a:p>
        </p:txBody>
      </p:sp>
      <p:sp>
        <p:nvSpPr>
          <p:cNvPr id="13" name="Oval 12"/>
          <p:cNvSpPr/>
          <p:nvPr/>
        </p:nvSpPr>
        <p:spPr>
          <a:xfrm>
            <a:off x="8183879" y="4663440"/>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4" name="TextBox 13"/>
          <p:cNvSpPr txBox="1"/>
          <p:nvPr/>
        </p:nvSpPr>
        <p:spPr>
          <a:xfrm>
            <a:off x="8686800" y="4645152"/>
            <a:ext cx="2926080" cy="320040"/>
          </a:xfrm>
          <a:prstGeom prst="rect">
            <a:avLst/>
          </a:prstGeom>
          <a:noFill/>
        </p:spPr>
        <p:txBody>
          <a:bodyPr wrap="square" lIns="0" rIns="0" tIns="18288" bIns="18288" anchor="t">
            <a:spAutoFit/>
          </a:bodyPr>
          <a:lstStyle/>
          <a:p>
            <a:pPr algn="l"/>
            <a:r>
              <a:rPr sz="1300" b="1" i="0">
                <a:solidFill>
                  <a:srgbClr val="14424C"/>
                </a:solidFill>
                <a:latin typeface="Calibri"/>
              </a:rPr>
              <a:t>Checks before showing</a:t>
            </a:r>
          </a:p>
        </p:txBody>
      </p:sp>
      <p:sp>
        <p:nvSpPr>
          <p:cNvPr id="15" name="TextBox 14"/>
          <p:cNvSpPr txBox="1"/>
          <p:nvPr/>
        </p:nvSpPr>
        <p:spPr>
          <a:xfrm>
            <a:off x="8686800" y="4965192"/>
            <a:ext cx="2926080" cy="731520"/>
          </a:xfrm>
          <a:prstGeom prst="rect">
            <a:avLst/>
          </a:prstGeom>
          <a:noFill/>
        </p:spPr>
        <p:txBody>
          <a:bodyPr wrap="square" lIns="0" rIns="0" tIns="18288" bIns="18288" anchor="t">
            <a:spAutoFit/>
          </a:bodyPr>
          <a:lstStyle/>
          <a:p>
            <a:pPr algn="l"/>
            <a:r>
              <a:rPr sz="1100" b="0" i="0">
                <a:solidFill>
                  <a:srgbClr val="1D2B30"/>
                </a:solidFill>
                <a:latin typeface="Calibri"/>
              </a:rPr>
              <a:t>Own country only, numbers grounded, no promise, no legal advice.</a:t>
            </a:r>
          </a:p>
        </p:txBody>
      </p:sp>
      <p:sp>
        <p:nvSpPr>
          <p:cNvPr id="16" name="TextBox 15"/>
          <p:cNvSpPr txBox="1"/>
          <p:nvPr/>
        </p:nvSpPr>
        <p:spPr>
          <a:xfrm>
            <a:off x="548640" y="5989320"/>
            <a:ext cx="9509760" cy="274320"/>
          </a:xfrm>
          <a:prstGeom prst="rect">
            <a:avLst/>
          </a:prstGeom>
          <a:noFill/>
        </p:spPr>
        <p:txBody>
          <a:bodyPr wrap="square" lIns="0" rIns="0" tIns="18288" bIns="18288" anchor="t">
            <a:spAutoFit/>
          </a:bodyPr>
          <a:lstStyle/>
          <a:p>
            <a:pPr algn="l"/>
            <a:r>
              <a:rPr sz="900" b="0" i="1">
                <a:solidFill>
                  <a:srgbClr val="5F6B70"/>
                </a:solidFill>
                <a:latin typeface="Calibri"/>
              </a:rPr>
              <a:t>Live prototype: askhr-policy-assistant.vercel.app (synthetic data, grounded extractive mode).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Sensitive questions reach a person; Hinglish gets an answer</a:t>
            </a:r>
          </a:p>
        </p:txBody>
      </p:sp>
      <p:pic>
        <p:nvPicPr>
          <p:cNvPr id="3" name="Picture 2" descr="02-handoff.png"/>
          <p:cNvPicPr>
            <a:picLocks noChangeAspect="1"/>
          </p:cNvPicPr>
          <p:nvPr/>
        </p:nvPicPr>
        <p:blipFill>
          <a:blip r:embed="rId3"/>
          <a:srcRect l="20000" t="6000" r="25000" b="22000"/>
          <a:stretch>
            <a:fillRect/>
          </a:stretch>
        </p:blipFill>
        <p:spPr>
          <a:xfrm>
            <a:off x="548640" y="1325880"/>
            <a:ext cx="5440680" cy="3840480"/>
          </a:xfrm>
          <a:prstGeom prst="rect">
            <a:avLst/>
          </a:prstGeom>
          <a:ln w="9525">
            <a:solidFill>
              <a:srgbClr val="C9D3D1"/>
            </a:solidFill>
          </a:ln>
        </p:spPr>
      </p:pic>
      <p:pic>
        <p:nvPicPr>
          <p:cNvPr id="4" name="Picture 3" descr="03-hinglish.png"/>
          <p:cNvPicPr>
            <a:picLocks noChangeAspect="1"/>
          </p:cNvPicPr>
          <p:nvPr/>
        </p:nvPicPr>
        <p:blipFill>
          <a:blip r:embed="rId4"/>
          <a:srcRect l="20000" t="6000" r="25000" b="28000"/>
          <a:stretch>
            <a:fillRect/>
          </a:stretch>
        </p:blipFill>
        <p:spPr>
          <a:xfrm>
            <a:off x="6172200" y="1325880"/>
            <a:ext cx="5440680" cy="3840480"/>
          </a:xfrm>
          <a:prstGeom prst="rect">
            <a:avLst/>
          </a:prstGeom>
          <a:ln w="9525">
            <a:solidFill>
              <a:srgbClr val="C9D3D1"/>
            </a:solidFill>
          </a:ln>
        </p:spPr>
      </p:pic>
      <p:sp>
        <p:nvSpPr>
          <p:cNvPr id="5" name="TextBox 4"/>
          <p:cNvSpPr txBox="1"/>
          <p:nvPr/>
        </p:nvSpPr>
        <p:spPr>
          <a:xfrm>
            <a:off x="548640" y="5303520"/>
            <a:ext cx="5440680" cy="822960"/>
          </a:xfrm>
          <a:prstGeom prst="rect">
            <a:avLst/>
          </a:prstGeom>
          <a:noFill/>
        </p:spPr>
        <p:txBody>
          <a:bodyPr wrap="square" lIns="0" rIns="0" tIns="18288" bIns="18288" anchor="t">
            <a:spAutoFit/>
          </a:bodyPr>
          <a:lstStyle/>
          <a:p>
            <a:pPr algn="l"/>
            <a:r>
              <a:rPr sz="1200" b="1" i="0">
                <a:solidFill>
                  <a:srgbClr val="0F766E"/>
                </a:solidFill>
                <a:latin typeface="Calibri"/>
              </a:rPr>
              <a:t>Handed to a person. </a:t>
            </a:r>
            <a:r>
              <a:rPr sz="1200" b="0" i="0">
                <a:solidFill>
                  <a:srgbClr val="1D2B30"/>
                </a:solidFill>
                <a:latin typeface="Calibri"/>
              </a:rPr>
              <a:t>Harassment goes to Employee Relations only, P1 within 4 working hours. Sarah sees who can read it and can choose the anonymous Speak Up line instead. The message is never sent to a model.</a:t>
            </a:r>
          </a:p>
        </p:txBody>
      </p:sp>
      <p:sp>
        <p:nvSpPr>
          <p:cNvPr id="6" name="TextBox 5"/>
          <p:cNvSpPr txBox="1"/>
          <p:nvPr/>
        </p:nvSpPr>
        <p:spPr>
          <a:xfrm>
            <a:off x="6172200" y="5303520"/>
            <a:ext cx="5440680" cy="822960"/>
          </a:xfrm>
          <a:prstGeom prst="rect">
            <a:avLst/>
          </a:prstGeom>
          <a:noFill/>
        </p:spPr>
        <p:txBody>
          <a:bodyPr wrap="square" lIns="0" rIns="0" tIns="18288" bIns="18288" anchor="t">
            <a:spAutoFit/>
          </a:bodyPr>
          <a:lstStyle/>
          <a:p>
            <a:pPr algn="l"/>
            <a:r>
              <a:rPr sz="1200" b="1" i="0">
                <a:solidFill>
                  <a:srgbClr val="0F766E"/>
                </a:solidFill>
                <a:latin typeface="Calibri"/>
              </a:rPr>
              <a:t>Answered in context. </a:t>
            </a:r>
            <a:r>
              <a:rPr sz="1200" b="0" i="0">
                <a:solidFill>
                  <a:srgbClr val="1D2B30"/>
                </a:solidFill>
                <a:latin typeface="Calibri"/>
              </a:rPr>
              <a:t>10% of India questions come in Hindi or Hinglish. AskHR understands them and cites the live India Leave Policy v3.2, never the superseded v3.1.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Rules where possible, models where needed: under a cent each</a:t>
            </a:r>
          </a:p>
        </p:txBody>
      </p:sp>
      <p:sp>
        <p:nvSpPr>
          <p:cNvPr id="3" name="Rectangle 2"/>
          <p:cNvSpPr/>
          <p:nvPr/>
        </p:nvSpPr>
        <p:spPr>
          <a:xfrm>
            <a:off x="548640" y="1371600"/>
            <a:ext cx="6766560" cy="62179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27048"/>
            <a:ext cx="1280160" cy="365760"/>
          </a:xfrm>
          <a:prstGeom prst="rect">
            <a:avLst/>
          </a:prstGeom>
          <a:noFill/>
        </p:spPr>
        <p:txBody>
          <a:bodyPr wrap="square" lIns="0" rIns="0" tIns="18288" bIns="18288" anchor="t">
            <a:spAutoFit/>
          </a:bodyPr>
          <a:lstStyle/>
          <a:p>
            <a:pPr algn="l"/>
            <a:r>
              <a:rPr sz="1300" b="1" i="0">
                <a:solidFill>
                  <a:srgbClr val="14424C"/>
                </a:solidFill>
                <a:latin typeface="Calibri"/>
              </a:rPr>
              <a:t>Profile</a:t>
            </a:r>
          </a:p>
        </p:txBody>
      </p:sp>
      <p:sp>
        <p:nvSpPr>
          <p:cNvPr id="5" name="TextBox 4"/>
          <p:cNvSpPr txBox="1"/>
          <p:nvPr/>
        </p:nvSpPr>
        <p:spPr>
          <a:xfrm>
            <a:off x="2011680" y="1545336"/>
            <a:ext cx="3566160" cy="365760"/>
          </a:xfrm>
          <a:prstGeom prst="rect">
            <a:avLst/>
          </a:prstGeom>
          <a:noFill/>
        </p:spPr>
        <p:txBody>
          <a:bodyPr wrap="square" lIns="0" rIns="0" tIns="18288" bIns="18288" anchor="t">
            <a:spAutoFit/>
          </a:bodyPr>
          <a:lstStyle/>
          <a:p>
            <a:pPr algn="l"/>
            <a:r>
              <a:rPr sz="1150" b="0" i="0">
                <a:solidFill>
                  <a:srgbClr val="1D2B30"/>
                </a:solidFill>
                <a:latin typeface="Calibri"/>
              </a:rPr>
              <a:t>Country, grade, contract from Workday</a:t>
            </a:r>
          </a:p>
        </p:txBody>
      </p:sp>
      <p:sp>
        <p:nvSpPr>
          <p:cNvPr id="6" name="Rounded Rectangle 5"/>
          <p:cNvSpPr/>
          <p:nvPr/>
        </p:nvSpPr>
        <p:spPr>
          <a:xfrm>
            <a:off x="5669280" y="1508760"/>
            <a:ext cx="1508760" cy="347472"/>
          </a:xfrm>
          <a:prstGeom prst="roundRect">
            <a:avLst>
              <a:gd name="adj" fmla="val 8000"/>
            </a:avLst>
          </a:prstGeom>
          <a:solidFill>
            <a:srgbClr val="FFFFFF"/>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F766E"/>
                </a:solidFill>
              </a:rPr>
              <a:t>Code</a:t>
            </a:r>
          </a:p>
        </p:txBody>
      </p:sp>
      <p:sp>
        <p:nvSpPr>
          <p:cNvPr id="7" name="Rectangle 6"/>
          <p:cNvSpPr/>
          <p:nvPr/>
        </p:nvSpPr>
        <p:spPr>
          <a:xfrm>
            <a:off x="548640" y="2103120"/>
            <a:ext cx="6766560" cy="62179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58568"/>
            <a:ext cx="1280160" cy="365760"/>
          </a:xfrm>
          <a:prstGeom prst="rect">
            <a:avLst/>
          </a:prstGeom>
          <a:noFill/>
        </p:spPr>
        <p:txBody>
          <a:bodyPr wrap="square" lIns="0" rIns="0" tIns="18288" bIns="18288" anchor="t">
            <a:spAutoFit/>
          </a:bodyPr>
          <a:lstStyle/>
          <a:p>
            <a:pPr algn="l"/>
            <a:r>
              <a:rPr sz="1300" b="1" i="0">
                <a:solidFill>
                  <a:srgbClr val="14424C"/>
                </a:solidFill>
                <a:latin typeface="Calibri"/>
              </a:rPr>
              <a:t>Triage</a:t>
            </a:r>
          </a:p>
        </p:txBody>
      </p:sp>
      <p:sp>
        <p:nvSpPr>
          <p:cNvPr id="9" name="TextBox 8"/>
          <p:cNvSpPr txBox="1"/>
          <p:nvPr/>
        </p:nvSpPr>
        <p:spPr>
          <a:xfrm>
            <a:off x="2011680" y="2276856"/>
            <a:ext cx="3566160" cy="365760"/>
          </a:xfrm>
          <a:prstGeom prst="rect">
            <a:avLst/>
          </a:prstGeom>
          <a:noFill/>
        </p:spPr>
        <p:txBody>
          <a:bodyPr wrap="square" lIns="0" rIns="0" tIns="18288" bIns="18288" anchor="t">
            <a:spAutoFit/>
          </a:bodyPr>
          <a:lstStyle/>
          <a:p>
            <a:pPr algn="l"/>
            <a:r>
              <a:rPr sz="1150" b="0" i="0">
                <a:solidFill>
                  <a:srgbClr val="1D2B30"/>
                </a:solidFill>
                <a:latin typeface="Calibri"/>
              </a:rPr>
              <a:t>Sensitive, legal, pay problems handed off</a:t>
            </a:r>
          </a:p>
        </p:txBody>
      </p:sp>
      <p:sp>
        <p:nvSpPr>
          <p:cNvPr id="10" name="Rounded Rectangle 9"/>
          <p:cNvSpPr/>
          <p:nvPr/>
        </p:nvSpPr>
        <p:spPr>
          <a:xfrm>
            <a:off x="5669280" y="2240279"/>
            <a:ext cx="1508760" cy="347472"/>
          </a:xfrm>
          <a:prstGeom prst="roundRect">
            <a:avLst>
              <a:gd name="adj" fmla="val 8000"/>
            </a:avLst>
          </a:prstGeom>
          <a:solidFill>
            <a:srgbClr val="FFFFFF"/>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F766E"/>
                </a:solidFill>
              </a:rPr>
              <a:t>Rules</a:t>
            </a:r>
          </a:p>
        </p:txBody>
      </p:sp>
      <p:sp>
        <p:nvSpPr>
          <p:cNvPr id="11" name="Rectangle 10"/>
          <p:cNvSpPr/>
          <p:nvPr/>
        </p:nvSpPr>
        <p:spPr>
          <a:xfrm>
            <a:off x="548640" y="2834640"/>
            <a:ext cx="6766560" cy="62179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990088"/>
            <a:ext cx="1280160" cy="365760"/>
          </a:xfrm>
          <a:prstGeom prst="rect">
            <a:avLst/>
          </a:prstGeom>
          <a:noFill/>
        </p:spPr>
        <p:txBody>
          <a:bodyPr wrap="square" lIns="0" rIns="0" tIns="18288" bIns="18288" anchor="t">
            <a:spAutoFit/>
          </a:bodyPr>
          <a:lstStyle/>
          <a:p>
            <a:pPr algn="l"/>
            <a:r>
              <a:rPr sz="1300" b="1" i="0">
                <a:solidFill>
                  <a:srgbClr val="14424C"/>
                </a:solidFill>
                <a:latin typeface="Calibri"/>
              </a:rPr>
              <a:t>Filter</a:t>
            </a:r>
          </a:p>
        </p:txBody>
      </p:sp>
      <p:sp>
        <p:nvSpPr>
          <p:cNvPr id="13" name="TextBox 12"/>
          <p:cNvSpPr txBox="1"/>
          <p:nvPr/>
        </p:nvSpPr>
        <p:spPr>
          <a:xfrm>
            <a:off x="2011680" y="3008376"/>
            <a:ext cx="3566160" cy="365760"/>
          </a:xfrm>
          <a:prstGeom prst="rect">
            <a:avLst/>
          </a:prstGeom>
          <a:noFill/>
        </p:spPr>
        <p:txBody>
          <a:bodyPr wrap="square" lIns="0" rIns="0" tIns="18288" bIns="18288" anchor="t">
            <a:spAutoFit/>
          </a:bodyPr>
          <a:lstStyle/>
          <a:p>
            <a:pPr algn="l"/>
            <a:r>
              <a:rPr sz="1150" b="0" i="0">
                <a:solidFill>
                  <a:srgbClr val="1D2B30"/>
                </a:solidFill>
                <a:latin typeface="Calibri"/>
              </a:rPr>
              <a:t>Own country, live version, audience</a:t>
            </a:r>
          </a:p>
        </p:txBody>
      </p:sp>
      <p:sp>
        <p:nvSpPr>
          <p:cNvPr id="14" name="Rounded Rectangle 13"/>
          <p:cNvSpPr/>
          <p:nvPr/>
        </p:nvSpPr>
        <p:spPr>
          <a:xfrm>
            <a:off x="5669280" y="2971800"/>
            <a:ext cx="1508760" cy="347472"/>
          </a:xfrm>
          <a:prstGeom prst="roundRect">
            <a:avLst>
              <a:gd name="adj" fmla="val 8000"/>
            </a:avLst>
          </a:prstGeom>
          <a:solidFill>
            <a:srgbClr val="FFFFFF"/>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F766E"/>
                </a:solidFill>
              </a:rPr>
              <a:t>Code</a:t>
            </a:r>
          </a:p>
        </p:txBody>
      </p:sp>
      <p:sp>
        <p:nvSpPr>
          <p:cNvPr id="15" name="Rectangle 14"/>
          <p:cNvSpPr/>
          <p:nvPr/>
        </p:nvSpPr>
        <p:spPr>
          <a:xfrm>
            <a:off x="548640" y="3566160"/>
            <a:ext cx="6766560" cy="62179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21608"/>
            <a:ext cx="1280160" cy="365760"/>
          </a:xfrm>
          <a:prstGeom prst="rect">
            <a:avLst/>
          </a:prstGeom>
          <a:noFill/>
        </p:spPr>
        <p:txBody>
          <a:bodyPr wrap="square" lIns="0" rIns="0" tIns="18288" bIns="18288" anchor="t">
            <a:spAutoFit/>
          </a:bodyPr>
          <a:lstStyle/>
          <a:p>
            <a:pPr algn="l"/>
            <a:r>
              <a:rPr sz="1300" b="1" i="0">
                <a:solidFill>
                  <a:srgbClr val="14424C"/>
                </a:solidFill>
                <a:latin typeface="Calibri"/>
              </a:rPr>
              <a:t>Retrieve</a:t>
            </a:r>
          </a:p>
        </p:txBody>
      </p:sp>
      <p:sp>
        <p:nvSpPr>
          <p:cNvPr id="17" name="TextBox 16"/>
          <p:cNvSpPr txBox="1"/>
          <p:nvPr/>
        </p:nvSpPr>
        <p:spPr>
          <a:xfrm>
            <a:off x="2011680" y="3739896"/>
            <a:ext cx="3566160" cy="365760"/>
          </a:xfrm>
          <a:prstGeom prst="rect">
            <a:avLst/>
          </a:prstGeom>
          <a:noFill/>
        </p:spPr>
        <p:txBody>
          <a:bodyPr wrap="square" lIns="0" rIns="0" tIns="18288" bIns="18288" anchor="t">
            <a:spAutoFit/>
          </a:bodyPr>
          <a:lstStyle/>
          <a:p>
            <a:pPr algn="l"/>
            <a:r>
              <a:rPr sz="1150" b="0" i="0">
                <a:solidFill>
                  <a:srgbClr val="1D2B30"/>
                </a:solidFill>
                <a:latin typeface="Calibri"/>
              </a:rPr>
              <a:t>Rank policy sections (BM25 + synonyms)</a:t>
            </a:r>
          </a:p>
        </p:txBody>
      </p:sp>
      <p:sp>
        <p:nvSpPr>
          <p:cNvPr id="18" name="Rounded Rectangle 17"/>
          <p:cNvSpPr/>
          <p:nvPr/>
        </p:nvSpPr>
        <p:spPr>
          <a:xfrm>
            <a:off x="5669280" y="3703320"/>
            <a:ext cx="1508760" cy="347472"/>
          </a:xfrm>
          <a:prstGeom prst="roundRect">
            <a:avLst>
              <a:gd name="adj" fmla="val 8000"/>
            </a:avLst>
          </a:prstGeom>
          <a:solidFill>
            <a:srgbClr val="FFFFFF"/>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F766E"/>
                </a:solidFill>
              </a:rPr>
              <a:t>Search</a:t>
            </a:r>
          </a:p>
        </p:txBody>
      </p:sp>
      <p:sp>
        <p:nvSpPr>
          <p:cNvPr id="19" name="Rectangle 18"/>
          <p:cNvSpPr/>
          <p:nvPr/>
        </p:nvSpPr>
        <p:spPr>
          <a:xfrm>
            <a:off x="548640" y="4297680"/>
            <a:ext cx="6766560" cy="62179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53128"/>
            <a:ext cx="1280160" cy="365760"/>
          </a:xfrm>
          <a:prstGeom prst="rect">
            <a:avLst/>
          </a:prstGeom>
          <a:noFill/>
        </p:spPr>
        <p:txBody>
          <a:bodyPr wrap="square" lIns="0" rIns="0" tIns="18288" bIns="18288" anchor="t">
            <a:spAutoFit/>
          </a:bodyPr>
          <a:lstStyle/>
          <a:p>
            <a:pPr algn="l"/>
            <a:r>
              <a:rPr sz="1300" b="1" i="0">
                <a:solidFill>
                  <a:srgbClr val="14424C"/>
                </a:solidFill>
                <a:latin typeface="Calibri"/>
              </a:rPr>
              <a:t>Answer</a:t>
            </a:r>
          </a:p>
        </p:txBody>
      </p:sp>
      <p:sp>
        <p:nvSpPr>
          <p:cNvPr id="21" name="TextBox 20"/>
          <p:cNvSpPr txBox="1"/>
          <p:nvPr/>
        </p:nvSpPr>
        <p:spPr>
          <a:xfrm>
            <a:off x="2011680" y="4471416"/>
            <a:ext cx="3566160" cy="365760"/>
          </a:xfrm>
          <a:prstGeom prst="rect">
            <a:avLst/>
          </a:prstGeom>
          <a:noFill/>
        </p:spPr>
        <p:txBody>
          <a:bodyPr wrap="square" lIns="0" rIns="0" tIns="18288" bIns="18288" anchor="t">
            <a:spAutoFit/>
          </a:bodyPr>
          <a:lstStyle/>
          <a:p>
            <a:pPr algn="l"/>
            <a:r>
              <a:rPr sz="1150" b="0" i="0">
                <a:solidFill>
                  <a:srgbClr val="1D2B30"/>
                </a:solidFill>
                <a:latin typeface="Calibri"/>
              </a:rPr>
              <a:t>Short cited answer as JSON</a:t>
            </a:r>
          </a:p>
        </p:txBody>
      </p:sp>
      <p:sp>
        <p:nvSpPr>
          <p:cNvPr id="22" name="Rounded Rectangle 21"/>
          <p:cNvSpPr/>
          <p:nvPr/>
        </p:nvSpPr>
        <p:spPr>
          <a:xfrm>
            <a:off x="5669280" y="4434840"/>
            <a:ext cx="1508760" cy="347472"/>
          </a:xfrm>
          <a:prstGeom prst="roundRect">
            <a:avLst>
              <a:gd name="adj" fmla="val 8000"/>
            </a:avLst>
          </a:prstGeom>
          <a:solidFill>
            <a:srgbClr val="0F766E"/>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rPr>
              <a:t>Grok, Claude fallback</a:t>
            </a:r>
          </a:p>
        </p:txBody>
      </p:sp>
      <p:sp>
        <p:nvSpPr>
          <p:cNvPr id="23" name="Rectangle 22"/>
          <p:cNvSpPr/>
          <p:nvPr/>
        </p:nvSpPr>
        <p:spPr>
          <a:xfrm>
            <a:off x="548640" y="5029200"/>
            <a:ext cx="6766560" cy="62179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84648"/>
            <a:ext cx="1280160" cy="365760"/>
          </a:xfrm>
          <a:prstGeom prst="rect">
            <a:avLst/>
          </a:prstGeom>
          <a:noFill/>
        </p:spPr>
        <p:txBody>
          <a:bodyPr wrap="square" lIns="0" rIns="0" tIns="18288" bIns="18288" anchor="t">
            <a:spAutoFit/>
          </a:bodyPr>
          <a:lstStyle/>
          <a:p>
            <a:pPr algn="l"/>
            <a:r>
              <a:rPr sz="1300" b="1" i="0">
                <a:solidFill>
                  <a:srgbClr val="14424C"/>
                </a:solidFill>
                <a:latin typeface="Calibri"/>
              </a:rPr>
              <a:t>Verify</a:t>
            </a:r>
          </a:p>
        </p:txBody>
      </p:sp>
      <p:sp>
        <p:nvSpPr>
          <p:cNvPr id="25" name="TextBox 24"/>
          <p:cNvSpPr txBox="1"/>
          <p:nvPr/>
        </p:nvSpPr>
        <p:spPr>
          <a:xfrm>
            <a:off x="2011680" y="5202936"/>
            <a:ext cx="3566160" cy="365760"/>
          </a:xfrm>
          <a:prstGeom prst="rect">
            <a:avLst/>
          </a:prstGeom>
          <a:noFill/>
        </p:spPr>
        <p:txBody>
          <a:bodyPr wrap="square" lIns="0" rIns="0" tIns="18288" bIns="18288" anchor="t">
            <a:spAutoFit/>
          </a:bodyPr>
          <a:lstStyle/>
          <a:p>
            <a:pPr algn="l"/>
            <a:r>
              <a:rPr sz="1150" b="0" i="0">
                <a:solidFill>
                  <a:srgbClr val="1D2B30"/>
                </a:solidFill>
                <a:latin typeface="Calibri"/>
              </a:rPr>
              <a:t>Citation, numbers, no promise, no legal advice</a:t>
            </a:r>
          </a:p>
        </p:txBody>
      </p:sp>
      <p:sp>
        <p:nvSpPr>
          <p:cNvPr id="26" name="Rounded Rectangle 25"/>
          <p:cNvSpPr/>
          <p:nvPr/>
        </p:nvSpPr>
        <p:spPr>
          <a:xfrm>
            <a:off x="5669280" y="5166360"/>
            <a:ext cx="1508760" cy="347472"/>
          </a:xfrm>
          <a:prstGeom prst="roundRect">
            <a:avLst>
              <a:gd name="adj" fmla="val 8000"/>
            </a:avLst>
          </a:prstGeom>
          <a:solidFill>
            <a:srgbClr val="FFFFFF"/>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F766E"/>
                </a:solidFill>
              </a:rPr>
              <a:t>Code</a:t>
            </a:r>
          </a:p>
        </p:txBody>
      </p:sp>
      <p:sp>
        <p:nvSpPr>
          <p:cNvPr id="27" name="Rectangle 26"/>
          <p:cNvSpPr/>
          <p:nvPr/>
        </p:nvSpPr>
        <p:spPr>
          <a:xfrm>
            <a:off x="7589520" y="1371600"/>
            <a:ext cx="4023360" cy="2331720"/>
          </a:xfrm>
          <a:prstGeom prst="rect">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18120" y="1508760"/>
            <a:ext cx="3657600" cy="640080"/>
          </a:xfrm>
          <a:prstGeom prst="rect">
            <a:avLst/>
          </a:prstGeom>
          <a:noFill/>
        </p:spPr>
        <p:txBody>
          <a:bodyPr wrap="square" lIns="0" rIns="0" tIns="18288" bIns="18288" anchor="t">
            <a:spAutoFit/>
          </a:bodyPr>
          <a:lstStyle/>
          <a:p>
            <a:pPr algn="l"/>
            <a:r>
              <a:rPr sz="2400" b="1" i="0">
                <a:solidFill>
                  <a:srgbClr val="E8A33D"/>
                </a:solidFill>
                <a:latin typeface="Cambria"/>
              </a:rPr>
              <a:t>$0.0007 per question</a:t>
            </a:r>
          </a:p>
        </p:txBody>
      </p:sp>
      <p:sp>
        <p:nvSpPr>
          <p:cNvPr id="29" name="TextBox 28"/>
          <p:cNvSpPr txBox="1"/>
          <p:nvPr/>
        </p:nvSpPr>
        <p:spPr>
          <a:xfrm>
            <a:off x="7818120" y="2148840"/>
            <a:ext cx="3657600" cy="1463040"/>
          </a:xfrm>
          <a:prstGeom prst="rect">
            <a:avLst/>
          </a:prstGeom>
          <a:noFill/>
        </p:spPr>
        <p:txBody>
          <a:bodyPr wrap="square" lIns="0" rIns="0" tIns="18288" bIns="18288" anchor="t">
            <a:spAutoFit/>
          </a:bodyPr>
          <a:lstStyle/>
          <a:p>
            <a:pPr algn="l"/>
            <a:r>
              <a:rPr sz="1200" b="0" i="0">
                <a:solidFill>
                  <a:srgbClr val="FFFFFF"/>
                </a:solidFill>
                <a:latin typeface="Calibri"/>
              </a:rPr>
              <a:t>About $2 a month in model calls at 2,500 questions, and about $152 a month all-in with hosting, search and monitoring. The extractive fallback costs nothing.</a:t>
            </a:r>
          </a:p>
        </p:txBody>
      </p:sp>
      <p:sp>
        <p:nvSpPr>
          <p:cNvPr id="30" name="Rectangle 29"/>
          <p:cNvSpPr/>
          <p:nvPr/>
        </p:nvSpPr>
        <p:spPr>
          <a:xfrm>
            <a:off x="7589520" y="3886200"/>
            <a:ext cx="4023360" cy="192024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54112" y="4017873"/>
            <a:ext cx="3694176" cy="1656892"/>
          </a:xfrm>
          <a:prstGeom prst="rect">
            <a:avLst/>
          </a:prstGeom>
          <a:noFill/>
        </p:spPr>
        <p:txBody>
          <a:bodyPr wrap="square" lIns="0" rIns="0" tIns="18288" bIns="18288" anchor="t">
            <a:spAutoFit/>
          </a:bodyPr>
          <a:lstStyle/>
          <a:p>
            <a:pPr algn="l"/>
            <a:r>
              <a:rPr sz="1300" b="1" i="0">
                <a:solidFill>
                  <a:srgbClr val="0F766E"/>
                </a:solidFill>
                <a:latin typeface="Calibri"/>
              </a:rPr>
              <a:t>Business case at 60% resolved</a:t>
            </a:r>
          </a:p>
          <a:p>
            <a:pPr algn="l">
              <a:spcBef>
                <a:spcPts val="500"/>
              </a:spcBef>
            </a:pPr>
            <a:r>
              <a:rPr sz="1200" b="0" i="0">
                <a:solidFill>
                  <a:srgbClr val="1D2B30"/>
                </a:solidFill>
                <a:latin typeface="Calibri"/>
              </a:rPr>
              <a:t>$15.2k a month net saving ($182k a year)</a:t>
            </a:r>
          </a:p>
          <a:p>
            <a:pPr algn="l">
              <a:spcBef>
                <a:spcPts val="500"/>
              </a:spcBef>
            </a:pPr>
            <a:r>
              <a:rPr sz="1200" b="0" i="0">
                <a:solidFill>
                  <a:srgbClr val="1D2B30"/>
                </a:solidFill>
                <a:latin typeface="Calibri"/>
              </a:rPr>
              <a:t>2.6 HR partner FTE freed for sensitive cases</a:t>
            </a:r>
          </a:p>
          <a:p>
            <a:pPr algn="l">
              <a:spcBef>
                <a:spcPts val="500"/>
              </a:spcBef>
            </a:pPr>
            <a:r>
              <a:rPr sz="1200" b="0" i="0">
                <a:solidFill>
                  <a:srgbClr val="1D2B30"/>
                </a:solidFill>
                <a:latin typeface="Calibri"/>
              </a:rPr>
              <a:t>Payback in about 3 months on an assumed $48k build</a:t>
            </a:r>
          </a:p>
        </p:txBody>
      </p:sp>
      <p:sp>
        <p:nvSpPr>
          <p:cNvPr id="32" name="TextBox 31"/>
          <p:cNvSpPr txBox="1"/>
          <p:nvPr/>
        </p:nvSpPr>
        <p:spPr>
          <a:xfrm>
            <a:off x="548640" y="5989320"/>
            <a:ext cx="9509760" cy="274320"/>
          </a:xfrm>
          <a:prstGeom prst="rect">
            <a:avLst/>
          </a:prstGeom>
          <a:noFill/>
        </p:spPr>
        <p:txBody>
          <a:bodyPr wrap="square" lIns="0" rIns="0" tIns="18288" bIns="18288" anchor="t">
            <a:spAutoFit/>
          </a:bodyPr>
          <a:lstStyle/>
          <a:p>
            <a:pPr algn="l"/>
            <a:r>
              <a:rPr sz="900" b="0" i="1">
                <a:solidFill>
                  <a:srgbClr val="5F6B70"/>
                </a:solidFill>
                <a:latin typeface="Calibri"/>
              </a:rPr>
              <a:t>Source: Cost Estimation workbook (3,110 input + 250 output tokens per call; Grok 95%, Claude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North Star: correctly resolved self-service, 0% to 60%</a:t>
            </a:r>
          </a:p>
        </p:txBody>
      </p:sp>
      <p:graphicFrame>
        <p:nvGraphicFramePr>
          <p:cNvPr id="3" name="Chart 2"/>
          <p:cNvGraphicFramePr>
            <a:graphicFrameLocks noGrp="1"/>
          </p:cNvGraphicFramePr>
          <p:nvPr/>
        </p:nvGraphicFramePr>
        <p:xfrm>
          <a:off x="548640" y="1325880"/>
          <a:ext cx="5669280" cy="4480560"/>
        </p:xfrm>
        <a:graphic>
          <a:graphicData uri="http://schemas.openxmlformats.org/drawingml/2006/chart">
            <c:chart xmlns:c="http://schemas.openxmlformats.org/drawingml/2006/chart" r:id="rId3"/>
          </a:graphicData>
        </a:graphic>
      </p:graphicFrame>
      <p:sp>
        <p:nvSpPr>
          <p:cNvPr id="4" name="TextBox 3"/>
          <p:cNvSpPr txBox="1"/>
          <p:nvPr/>
        </p:nvSpPr>
        <p:spPr>
          <a:xfrm>
            <a:off x="6492240" y="1371600"/>
            <a:ext cx="5120640" cy="320040"/>
          </a:xfrm>
          <a:prstGeom prst="rect">
            <a:avLst/>
          </a:prstGeom>
          <a:noFill/>
        </p:spPr>
        <p:txBody>
          <a:bodyPr wrap="square" lIns="0" rIns="0" tIns="18288" bIns="18288" anchor="t">
            <a:spAutoFit/>
          </a:bodyPr>
          <a:lstStyle/>
          <a:p>
            <a:pPr algn="l"/>
            <a:r>
              <a:rPr sz="1300" b="1" i="0">
                <a:solidFill>
                  <a:srgbClr val="14424C"/>
                </a:solidFill>
                <a:latin typeface="Calibri"/>
              </a:rPr>
              <a:t>Supporting metrics: target</a:t>
            </a:r>
          </a:p>
        </p:txBody>
      </p:sp>
      <p:sp>
        <p:nvSpPr>
          <p:cNvPr id="5" name="Rectangle 4"/>
          <p:cNvSpPr/>
          <p:nvPr/>
        </p:nvSpPr>
        <p:spPr>
          <a:xfrm>
            <a:off x="6492240" y="1783080"/>
            <a:ext cx="5120640" cy="57607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920240"/>
            <a:ext cx="2743200" cy="365760"/>
          </a:xfrm>
          <a:prstGeom prst="rect">
            <a:avLst/>
          </a:prstGeom>
          <a:noFill/>
        </p:spPr>
        <p:txBody>
          <a:bodyPr wrap="square" lIns="0" rIns="0" tIns="18288" bIns="18288" anchor="t">
            <a:spAutoFit/>
          </a:bodyPr>
          <a:lstStyle/>
          <a:p>
            <a:pPr algn="l"/>
            <a:r>
              <a:rPr sz="1150" b="1" i="0">
                <a:solidFill>
                  <a:srgbClr val="1D2B30"/>
                </a:solidFill>
                <a:latin typeface="Calibri"/>
              </a:rPr>
              <a:t>HR partner time on repeats</a:t>
            </a:r>
          </a:p>
        </p:txBody>
      </p:sp>
      <p:sp>
        <p:nvSpPr>
          <p:cNvPr id="7" name="TextBox 6"/>
          <p:cNvSpPr txBox="1"/>
          <p:nvPr/>
        </p:nvSpPr>
        <p:spPr>
          <a:xfrm>
            <a:off x="9418320" y="1920240"/>
            <a:ext cx="2103120" cy="365760"/>
          </a:xfrm>
          <a:prstGeom prst="rect">
            <a:avLst/>
          </a:prstGeom>
          <a:noFill/>
        </p:spPr>
        <p:txBody>
          <a:bodyPr wrap="square" lIns="0" rIns="0" tIns="18288" bIns="18288" anchor="t">
            <a:spAutoFit/>
          </a:bodyPr>
          <a:lstStyle/>
          <a:p>
            <a:pPr algn="l"/>
            <a:r>
              <a:rPr sz="1150" b="1" i="0">
                <a:solidFill>
                  <a:srgbClr val="0F766E"/>
                </a:solidFill>
                <a:latin typeface="Calibri"/>
              </a:rPr>
              <a:t>40% → 20% by month 6</a:t>
            </a:r>
          </a:p>
        </p:txBody>
      </p:sp>
      <p:sp>
        <p:nvSpPr>
          <p:cNvPr id="8" name="Rectangle 7"/>
          <p:cNvSpPr/>
          <p:nvPr/>
        </p:nvSpPr>
        <p:spPr>
          <a:xfrm>
            <a:off x="6492240" y="2450591"/>
            <a:ext cx="5120640" cy="57607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587751"/>
            <a:ext cx="2743200" cy="365760"/>
          </a:xfrm>
          <a:prstGeom prst="rect">
            <a:avLst/>
          </a:prstGeom>
          <a:noFill/>
        </p:spPr>
        <p:txBody>
          <a:bodyPr wrap="square" lIns="0" rIns="0" tIns="18288" bIns="18288" anchor="t">
            <a:spAutoFit/>
          </a:bodyPr>
          <a:lstStyle/>
          <a:p>
            <a:pPr algn="l"/>
            <a:r>
              <a:rPr sz="1150" b="1" i="0">
                <a:solidFill>
                  <a:srgbClr val="1D2B30"/>
                </a:solidFill>
                <a:latin typeface="Calibri"/>
              </a:rPr>
              <a:t>Time to first answer</a:t>
            </a:r>
          </a:p>
        </p:txBody>
      </p:sp>
      <p:sp>
        <p:nvSpPr>
          <p:cNvPr id="10" name="TextBox 9"/>
          <p:cNvSpPr txBox="1"/>
          <p:nvPr/>
        </p:nvSpPr>
        <p:spPr>
          <a:xfrm>
            <a:off x="9418320" y="2587751"/>
            <a:ext cx="2103120" cy="365760"/>
          </a:xfrm>
          <a:prstGeom prst="rect">
            <a:avLst/>
          </a:prstGeom>
          <a:noFill/>
        </p:spPr>
        <p:txBody>
          <a:bodyPr wrap="square" lIns="0" rIns="0" tIns="18288" bIns="18288" anchor="t">
            <a:spAutoFit/>
          </a:bodyPr>
          <a:lstStyle/>
          <a:p>
            <a:pPr algn="l"/>
            <a:r>
              <a:rPr sz="1150" b="1" i="0">
                <a:solidFill>
                  <a:srgbClr val="0F766E"/>
                </a:solidFill>
                <a:latin typeface="Calibri"/>
              </a:rPr>
              <a:t>1.5 days → under 10 seconds</a:t>
            </a:r>
          </a:p>
        </p:txBody>
      </p:sp>
      <p:sp>
        <p:nvSpPr>
          <p:cNvPr id="11" name="Rectangle 10"/>
          <p:cNvSpPr/>
          <p:nvPr/>
        </p:nvSpPr>
        <p:spPr>
          <a:xfrm>
            <a:off x="6492240" y="3118104"/>
            <a:ext cx="5120640" cy="57607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255264"/>
            <a:ext cx="2743200" cy="365760"/>
          </a:xfrm>
          <a:prstGeom prst="rect">
            <a:avLst/>
          </a:prstGeom>
          <a:noFill/>
        </p:spPr>
        <p:txBody>
          <a:bodyPr wrap="square" lIns="0" rIns="0" tIns="18288" bIns="18288" anchor="t">
            <a:spAutoFit/>
          </a:bodyPr>
          <a:lstStyle/>
          <a:p>
            <a:pPr algn="l"/>
            <a:r>
              <a:rPr sz="1150" b="1" i="0">
                <a:solidFill>
                  <a:srgbClr val="1D2B30"/>
                </a:solidFill>
                <a:latin typeface="Calibri"/>
              </a:rPr>
              <a:t>Wrong answers (weekly audit)</a:t>
            </a:r>
          </a:p>
        </p:txBody>
      </p:sp>
      <p:sp>
        <p:nvSpPr>
          <p:cNvPr id="13" name="TextBox 12"/>
          <p:cNvSpPr txBox="1"/>
          <p:nvPr/>
        </p:nvSpPr>
        <p:spPr>
          <a:xfrm>
            <a:off x="9418320" y="3255264"/>
            <a:ext cx="2103120" cy="365760"/>
          </a:xfrm>
          <a:prstGeom prst="rect">
            <a:avLst/>
          </a:prstGeom>
          <a:noFill/>
        </p:spPr>
        <p:txBody>
          <a:bodyPr wrap="square" lIns="0" rIns="0" tIns="18288" bIns="18288" anchor="t">
            <a:spAutoFit/>
          </a:bodyPr>
          <a:lstStyle/>
          <a:p>
            <a:pPr algn="l"/>
            <a:r>
              <a:rPr sz="1150" b="1" i="0">
                <a:solidFill>
                  <a:srgbClr val="0F766E"/>
                </a:solidFill>
                <a:latin typeface="Calibri"/>
              </a:rPr>
              <a:t>8% → under 1%</a:t>
            </a:r>
          </a:p>
        </p:txBody>
      </p:sp>
      <p:sp>
        <p:nvSpPr>
          <p:cNvPr id="14" name="Rectangle 13"/>
          <p:cNvSpPr/>
          <p:nvPr/>
        </p:nvSpPr>
        <p:spPr>
          <a:xfrm>
            <a:off x="6492240" y="3785615"/>
            <a:ext cx="5120640" cy="57607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922776"/>
            <a:ext cx="2743200" cy="365760"/>
          </a:xfrm>
          <a:prstGeom prst="rect">
            <a:avLst/>
          </a:prstGeom>
          <a:noFill/>
        </p:spPr>
        <p:txBody>
          <a:bodyPr wrap="square" lIns="0" rIns="0" tIns="18288" bIns="18288" anchor="t">
            <a:spAutoFit/>
          </a:bodyPr>
          <a:lstStyle/>
          <a:p>
            <a:pPr algn="l"/>
            <a:r>
              <a:rPr sz="1150" b="1" i="0">
                <a:solidFill>
                  <a:srgbClr val="1D2B30"/>
                </a:solidFill>
                <a:latin typeface="Calibri"/>
              </a:rPr>
              <a:t>Wrong-country or old-version citations</a:t>
            </a:r>
          </a:p>
        </p:txBody>
      </p:sp>
      <p:sp>
        <p:nvSpPr>
          <p:cNvPr id="16" name="TextBox 15"/>
          <p:cNvSpPr txBox="1"/>
          <p:nvPr/>
        </p:nvSpPr>
        <p:spPr>
          <a:xfrm>
            <a:off x="9418320" y="3922776"/>
            <a:ext cx="2103120" cy="365760"/>
          </a:xfrm>
          <a:prstGeom prst="rect">
            <a:avLst/>
          </a:prstGeom>
          <a:noFill/>
        </p:spPr>
        <p:txBody>
          <a:bodyPr wrap="square" lIns="0" rIns="0" tIns="18288" bIns="18288" anchor="t">
            <a:spAutoFit/>
          </a:bodyPr>
          <a:lstStyle/>
          <a:p>
            <a:pPr algn="l"/>
            <a:r>
              <a:rPr sz="1150" b="1" i="0">
                <a:solidFill>
                  <a:srgbClr val="0F766E"/>
                </a:solidFill>
                <a:latin typeface="Calibri"/>
              </a:rPr>
              <a:t>0, always</a:t>
            </a:r>
          </a:p>
        </p:txBody>
      </p:sp>
      <p:sp>
        <p:nvSpPr>
          <p:cNvPr id="17" name="Rectangle 16"/>
          <p:cNvSpPr/>
          <p:nvPr/>
        </p:nvSpPr>
        <p:spPr>
          <a:xfrm>
            <a:off x="6492240" y="4453128"/>
            <a:ext cx="5120640" cy="57607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4590288"/>
            <a:ext cx="2743200" cy="365760"/>
          </a:xfrm>
          <a:prstGeom prst="rect">
            <a:avLst/>
          </a:prstGeom>
          <a:noFill/>
        </p:spPr>
        <p:txBody>
          <a:bodyPr wrap="square" lIns="0" rIns="0" tIns="18288" bIns="18288" anchor="t">
            <a:spAutoFit/>
          </a:bodyPr>
          <a:lstStyle/>
          <a:p>
            <a:pPr algn="l"/>
            <a:r>
              <a:rPr sz="1150" b="1" i="0">
                <a:solidFill>
                  <a:srgbClr val="1D2B30"/>
                </a:solidFill>
                <a:latin typeface="Calibri"/>
              </a:rPr>
              <a:t>Sensitive questions reaching a person</a:t>
            </a:r>
          </a:p>
        </p:txBody>
      </p:sp>
      <p:sp>
        <p:nvSpPr>
          <p:cNvPr id="19" name="TextBox 18"/>
          <p:cNvSpPr txBox="1"/>
          <p:nvPr/>
        </p:nvSpPr>
        <p:spPr>
          <a:xfrm>
            <a:off x="9418320" y="4590288"/>
            <a:ext cx="2103120" cy="365760"/>
          </a:xfrm>
          <a:prstGeom prst="rect">
            <a:avLst/>
          </a:prstGeom>
          <a:noFill/>
        </p:spPr>
        <p:txBody>
          <a:bodyPr wrap="square" lIns="0" rIns="0" tIns="18288" bIns="18288" anchor="t">
            <a:spAutoFit/>
          </a:bodyPr>
          <a:lstStyle/>
          <a:p>
            <a:pPr algn="l"/>
            <a:r>
              <a:rPr sz="1150" b="1" i="0">
                <a:solidFill>
                  <a:srgbClr val="0F766E"/>
                </a:solidFill>
                <a:latin typeface="Calibri"/>
              </a:rPr>
              <a:t>100%</a:t>
            </a:r>
          </a:p>
        </p:txBody>
      </p:sp>
      <p:sp>
        <p:nvSpPr>
          <p:cNvPr id="20" name="Rectangle 19"/>
          <p:cNvSpPr/>
          <p:nvPr/>
        </p:nvSpPr>
        <p:spPr>
          <a:xfrm>
            <a:off x="6492240" y="5120640"/>
            <a:ext cx="5120640" cy="576072"/>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5257800"/>
            <a:ext cx="2743200" cy="365760"/>
          </a:xfrm>
          <a:prstGeom prst="rect">
            <a:avLst/>
          </a:prstGeom>
          <a:noFill/>
        </p:spPr>
        <p:txBody>
          <a:bodyPr wrap="square" lIns="0" rIns="0" tIns="18288" bIns="18288" anchor="t">
            <a:spAutoFit/>
          </a:bodyPr>
          <a:lstStyle/>
          <a:p>
            <a:pPr algn="l"/>
            <a:r>
              <a:rPr sz="1150" b="1" i="0">
                <a:solidFill>
                  <a:srgbClr val="1D2B30"/>
                </a:solidFill>
                <a:latin typeface="Calibri"/>
              </a:rPr>
              <a:t>Answers rated helpful</a:t>
            </a:r>
          </a:p>
        </p:txBody>
      </p:sp>
      <p:sp>
        <p:nvSpPr>
          <p:cNvPr id="22" name="TextBox 21"/>
          <p:cNvSpPr txBox="1"/>
          <p:nvPr/>
        </p:nvSpPr>
        <p:spPr>
          <a:xfrm>
            <a:off x="9418320" y="5257800"/>
            <a:ext cx="2103120" cy="365760"/>
          </a:xfrm>
          <a:prstGeom prst="rect">
            <a:avLst/>
          </a:prstGeom>
          <a:noFill/>
        </p:spPr>
        <p:txBody>
          <a:bodyPr wrap="square" lIns="0" rIns="0" tIns="18288" bIns="18288" anchor="t">
            <a:spAutoFit/>
          </a:bodyPr>
          <a:lstStyle/>
          <a:p>
            <a:pPr algn="l"/>
            <a:r>
              <a:rPr sz="1150" b="1" i="0">
                <a:solidFill>
                  <a:srgbClr val="0F766E"/>
                </a:solidFill>
                <a:latin typeface="Calibri"/>
              </a:rPr>
              <a:t>85% or more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Leading signals tell us early; the business outcome follows</a:t>
            </a:r>
          </a:p>
        </p:txBody>
      </p:sp>
      <p:sp>
        <p:nvSpPr>
          <p:cNvPr id="3" name="Rectangle 2"/>
          <p:cNvSpPr/>
          <p:nvPr/>
        </p:nvSpPr>
        <p:spPr>
          <a:xfrm>
            <a:off x="548640" y="1371600"/>
            <a:ext cx="3657600" cy="4434840"/>
          </a:xfrm>
          <a:prstGeom prst="rect">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54480"/>
            <a:ext cx="3200400" cy="274320"/>
          </a:xfrm>
          <a:prstGeom prst="rect">
            <a:avLst/>
          </a:prstGeom>
          <a:noFill/>
        </p:spPr>
        <p:txBody>
          <a:bodyPr wrap="square" lIns="0" rIns="0" tIns="18288" bIns="18288" anchor="t">
            <a:spAutoFit/>
          </a:bodyPr>
          <a:lstStyle/>
          <a:p>
            <a:pPr algn="l"/>
            <a:r>
              <a:rPr sz="1000" b="1" i="0">
                <a:solidFill>
                  <a:srgbClr val="E8A33D"/>
                </a:solidFill>
                <a:latin typeface="Calibri"/>
              </a:rPr>
              <a:t>LEADING: CHECK WEEKLY</a:t>
            </a:r>
          </a:p>
        </p:txBody>
      </p:sp>
      <p:sp>
        <p:nvSpPr>
          <p:cNvPr id="5" name="TextBox 4"/>
          <p:cNvSpPr txBox="1"/>
          <p:nvPr/>
        </p:nvSpPr>
        <p:spPr>
          <a:xfrm>
            <a:off x="777240" y="1874519"/>
            <a:ext cx="3200400" cy="822960"/>
          </a:xfrm>
          <a:prstGeom prst="rect">
            <a:avLst/>
          </a:prstGeom>
          <a:noFill/>
        </p:spPr>
        <p:txBody>
          <a:bodyPr wrap="square" lIns="0" rIns="0" tIns="18288" bIns="18288" anchor="t">
            <a:spAutoFit/>
          </a:bodyPr>
          <a:lstStyle/>
          <a:p>
            <a:pPr algn="l"/>
            <a:r>
              <a:rPr sz="1800" b="1" i="0">
                <a:solidFill>
                  <a:srgbClr val="FFFFFF"/>
                </a:solidFill>
                <a:latin typeface="Cambria"/>
              </a:rPr>
              <a:t>Correctly resolved self-service rate</a:t>
            </a:r>
          </a:p>
        </p:txBody>
      </p:sp>
      <p:sp>
        <p:nvSpPr>
          <p:cNvPr id="6" name="TextBox 5"/>
          <p:cNvSpPr txBox="1"/>
          <p:nvPr/>
        </p:nvSpPr>
        <p:spPr>
          <a:xfrm>
            <a:off x="777240" y="2788920"/>
            <a:ext cx="3200400" cy="2926080"/>
          </a:xfrm>
          <a:prstGeom prst="rect">
            <a:avLst/>
          </a:prstGeom>
          <a:noFill/>
        </p:spPr>
        <p:txBody>
          <a:bodyPr wrap="square" lIns="0" rIns="0" tIns="18288" bIns="18288" anchor="t">
            <a:spAutoFit/>
          </a:bodyPr>
          <a:lstStyle/>
          <a:p>
            <a:pPr algn="l"/>
            <a:r>
              <a:rPr sz="1200" b="0" i="0">
                <a:solidFill>
                  <a:srgbClr val="FFFFFF"/>
                </a:solidFill>
                <a:latin typeface="Calibri"/>
              </a:rPr>
              <a:t>Questions answered per week, by country and topic</a:t>
            </a:r>
          </a:p>
          <a:p>
            <a:pPr algn="l">
              <a:spcBef>
                <a:spcPts val="800"/>
              </a:spcBef>
            </a:pPr>
            <a:r>
              <a:rPr sz="1200" b="0" i="0">
                <a:solidFill>
                  <a:srgbClr val="FFFFFF"/>
                </a:solidFill>
                <a:latin typeface="Calibri"/>
              </a:rPr>
              <a:t>Thumbs-up rate and repeat use within 60 days</a:t>
            </a:r>
          </a:p>
          <a:p>
            <a:pPr algn="l">
              <a:spcBef>
                <a:spcPts val="800"/>
              </a:spcBef>
            </a:pPr>
            <a:r>
              <a:rPr sz="1200" b="0" i="0">
                <a:solidFill>
                  <a:srgbClr val="FFFFFF"/>
                </a:solidFill>
                <a:latin typeface="Calibri"/>
              </a:rPr>
              <a:t>Hand-offs HR partners accept without re-asking (80% target)</a:t>
            </a:r>
          </a:p>
          <a:p>
            <a:pPr algn="l">
              <a:spcBef>
                <a:spcPts val="800"/>
              </a:spcBef>
            </a:pPr>
            <a:r>
              <a:rPr sz="1200" b="0" i="0">
                <a:solidFill>
                  <a:srgbClr val="FFFFFF"/>
                </a:solidFill>
                <a:latin typeface="Calibri"/>
              </a:rPr>
              <a:t>'Not found' questions: the weekly content gap list for policy owners</a:t>
            </a:r>
          </a:p>
        </p:txBody>
      </p:sp>
      <p:sp>
        <p:nvSpPr>
          <p:cNvPr id="7" name="TextBox 6"/>
          <p:cNvSpPr txBox="1"/>
          <p:nvPr/>
        </p:nvSpPr>
        <p:spPr>
          <a:xfrm>
            <a:off x="4480560" y="1371600"/>
            <a:ext cx="7132320" cy="320040"/>
          </a:xfrm>
          <a:prstGeom prst="rect">
            <a:avLst/>
          </a:prstGeom>
          <a:noFill/>
        </p:spPr>
        <p:txBody>
          <a:bodyPr wrap="square" lIns="0" rIns="0" tIns="18288" bIns="18288" anchor="t">
            <a:spAutoFit/>
          </a:bodyPr>
          <a:lstStyle/>
          <a:p>
            <a:pPr algn="l"/>
            <a:r>
              <a:rPr sz="1300" b="1" i="0">
                <a:solidFill>
                  <a:srgbClr val="14424C"/>
                </a:solidFill>
                <a:latin typeface="Calibri"/>
              </a:rPr>
              <a:t>Lagging: outcomes the CHRO cares about</a:t>
            </a:r>
          </a:p>
        </p:txBody>
      </p:sp>
      <p:sp>
        <p:nvSpPr>
          <p:cNvPr id="8" name="Rectangle 7"/>
          <p:cNvSpPr/>
          <p:nvPr/>
        </p:nvSpPr>
        <p:spPr>
          <a:xfrm>
            <a:off x="4480560" y="1783080"/>
            <a:ext cx="7132320" cy="731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874519"/>
            <a:ext cx="2743200" cy="548640"/>
          </a:xfrm>
          <a:prstGeom prst="rect">
            <a:avLst/>
          </a:prstGeom>
          <a:noFill/>
        </p:spPr>
        <p:txBody>
          <a:bodyPr wrap="square" lIns="0" rIns="0" tIns="18288" bIns="18288" anchor="t">
            <a:spAutoFit/>
          </a:bodyPr>
          <a:lstStyle/>
          <a:p>
            <a:pPr algn="l"/>
            <a:r>
              <a:rPr sz="1200" b="1" i="0">
                <a:solidFill>
                  <a:srgbClr val="1D2B30"/>
                </a:solidFill>
                <a:latin typeface="Calibri"/>
              </a:rPr>
              <a:t>HR partner time on repeats</a:t>
            </a:r>
          </a:p>
        </p:txBody>
      </p:sp>
      <p:sp>
        <p:nvSpPr>
          <p:cNvPr id="10" name="TextBox 9"/>
          <p:cNvSpPr txBox="1"/>
          <p:nvPr/>
        </p:nvSpPr>
        <p:spPr>
          <a:xfrm>
            <a:off x="7406640" y="1874519"/>
            <a:ext cx="2377440" cy="548640"/>
          </a:xfrm>
          <a:prstGeom prst="rect">
            <a:avLst/>
          </a:prstGeom>
          <a:noFill/>
        </p:spPr>
        <p:txBody>
          <a:bodyPr wrap="square" lIns="0" rIns="0" tIns="18288" bIns="18288" anchor="t">
            <a:spAutoFit/>
          </a:bodyPr>
          <a:lstStyle/>
          <a:p>
            <a:pPr algn="l"/>
            <a:r>
              <a:rPr sz="1050" b="0" i="0">
                <a:solidFill>
                  <a:srgbClr val="5F6B70"/>
                </a:solidFill>
                <a:latin typeface="Calibri"/>
              </a:rPr>
              <a:t>Time study plus ServiceNow volume</a:t>
            </a:r>
          </a:p>
        </p:txBody>
      </p:sp>
      <p:sp>
        <p:nvSpPr>
          <p:cNvPr id="11" name="TextBox 10"/>
          <p:cNvSpPr txBox="1"/>
          <p:nvPr/>
        </p:nvSpPr>
        <p:spPr>
          <a:xfrm>
            <a:off x="9829800" y="1874519"/>
            <a:ext cx="1691640" cy="548640"/>
          </a:xfrm>
          <a:prstGeom prst="rect">
            <a:avLst/>
          </a:prstGeom>
          <a:noFill/>
        </p:spPr>
        <p:txBody>
          <a:bodyPr wrap="square" lIns="0" rIns="0" tIns="18288" bIns="18288" anchor="t">
            <a:spAutoFit/>
          </a:bodyPr>
          <a:lstStyle/>
          <a:p>
            <a:pPr algn="l"/>
            <a:r>
              <a:rPr sz="1200" b="1" i="0">
                <a:solidFill>
                  <a:srgbClr val="0F766E"/>
                </a:solidFill>
                <a:latin typeface="Calibri"/>
              </a:rPr>
              <a:t>40% → 20%</a:t>
            </a:r>
          </a:p>
        </p:txBody>
      </p:sp>
      <p:sp>
        <p:nvSpPr>
          <p:cNvPr id="12" name="Rectangle 11"/>
          <p:cNvSpPr/>
          <p:nvPr/>
        </p:nvSpPr>
        <p:spPr>
          <a:xfrm>
            <a:off x="4480560" y="2624328"/>
            <a:ext cx="7132320" cy="731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715768"/>
            <a:ext cx="2743200" cy="548640"/>
          </a:xfrm>
          <a:prstGeom prst="rect">
            <a:avLst/>
          </a:prstGeom>
          <a:noFill/>
        </p:spPr>
        <p:txBody>
          <a:bodyPr wrap="square" lIns="0" rIns="0" tIns="18288" bIns="18288" anchor="t">
            <a:spAutoFit/>
          </a:bodyPr>
          <a:lstStyle/>
          <a:p>
            <a:pPr algn="l"/>
            <a:r>
              <a:rPr sz="1200" b="1" i="0">
                <a:solidFill>
                  <a:srgbClr val="1D2B30"/>
                </a:solidFill>
                <a:latin typeface="Calibri"/>
              </a:rPr>
              <a:t>Cost of answering</a:t>
            </a:r>
          </a:p>
        </p:txBody>
      </p:sp>
      <p:sp>
        <p:nvSpPr>
          <p:cNvPr id="14" name="TextBox 13"/>
          <p:cNvSpPr txBox="1"/>
          <p:nvPr/>
        </p:nvSpPr>
        <p:spPr>
          <a:xfrm>
            <a:off x="7406640" y="2715768"/>
            <a:ext cx="2377440" cy="548640"/>
          </a:xfrm>
          <a:prstGeom prst="rect">
            <a:avLst/>
          </a:prstGeom>
          <a:noFill/>
        </p:spPr>
        <p:txBody>
          <a:bodyPr wrap="square" lIns="0" rIns="0" tIns="18288" bIns="18288" anchor="t">
            <a:spAutoFit/>
          </a:bodyPr>
          <a:lstStyle/>
          <a:p>
            <a:pPr algn="l"/>
            <a:r>
              <a:rPr sz="1050" b="0" i="0">
                <a:solidFill>
                  <a:srgbClr val="5F6B70"/>
                </a:solidFill>
                <a:latin typeface="Calibri"/>
              </a:rPr>
              <a:t>$10.50 per question today; about $26k a month</a:t>
            </a:r>
          </a:p>
        </p:txBody>
      </p:sp>
      <p:sp>
        <p:nvSpPr>
          <p:cNvPr id="15" name="TextBox 14"/>
          <p:cNvSpPr txBox="1"/>
          <p:nvPr/>
        </p:nvSpPr>
        <p:spPr>
          <a:xfrm>
            <a:off x="9829800" y="2715768"/>
            <a:ext cx="1691640" cy="548640"/>
          </a:xfrm>
          <a:prstGeom prst="rect">
            <a:avLst/>
          </a:prstGeom>
          <a:noFill/>
        </p:spPr>
        <p:txBody>
          <a:bodyPr wrap="square" lIns="0" rIns="0" tIns="18288" bIns="18288" anchor="t">
            <a:spAutoFit/>
          </a:bodyPr>
          <a:lstStyle/>
          <a:p>
            <a:pPr algn="l"/>
            <a:r>
              <a:rPr sz="1200" b="1" i="0">
                <a:solidFill>
                  <a:srgbClr val="0F766E"/>
                </a:solidFill>
                <a:latin typeface="Calibri"/>
              </a:rPr>
              <a:t>≈ $15k a month saved</a:t>
            </a:r>
          </a:p>
        </p:txBody>
      </p:sp>
      <p:sp>
        <p:nvSpPr>
          <p:cNvPr id="16" name="Rectangle 15"/>
          <p:cNvSpPr/>
          <p:nvPr/>
        </p:nvSpPr>
        <p:spPr>
          <a:xfrm>
            <a:off x="4480560" y="3465576"/>
            <a:ext cx="7132320" cy="731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557016"/>
            <a:ext cx="2743200" cy="548640"/>
          </a:xfrm>
          <a:prstGeom prst="rect">
            <a:avLst/>
          </a:prstGeom>
          <a:noFill/>
        </p:spPr>
        <p:txBody>
          <a:bodyPr wrap="square" lIns="0" rIns="0" tIns="18288" bIns="18288" anchor="t">
            <a:spAutoFit/>
          </a:bodyPr>
          <a:lstStyle/>
          <a:p>
            <a:pPr algn="l"/>
            <a:r>
              <a:rPr sz="1200" b="1" i="0">
                <a:solidFill>
                  <a:srgbClr val="1D2B30"/>
                </a:solidFill>
                <a:latin typeface="Calibri"/>
              </a:rPr>
              <a:t>Peak-season backlog</a:t>
            </a:r>
          </a:p>
        </p:txBody>
      </p:sp>
      <p:sp>
        <p:nvSpPr>
          <p:cNvPr id="18" name="TextBox 17"/>
          <p:cNvSpPr txBox="1"/>
          <p:nvPr/>
        </p:nvSpPr>
        <p:spPr>
          <a:xfrm>
            <a:off x="7406640" y="3557016"/>
            <a:ext cx="2377440" cy="548640"/>
          </a:xfrm>
          <a:prstGeom prst="rect">
            <a:avLst/>
          </a:prstGeom>
          <a:noFill/>
        </p:spPr>
        <p:txBody>
          <a:bodyPr wrap="square" lIns="0" rIns="0" tIns="18288" bIns="18288" anchor="t">
            <a:spAutoFit/>
          </a:bodyPr>
          <a:lstStyle/>
          <a:p>
            <a:pPr algn="l"/>
            <a:r>
              <a:rPr sz="1050" b="0" i="0">
                <a:solidFill>
                  <a:srgbClr val="5F6B70"/>
                </a:solidFill>
                <a:latin typeface="Calibri"/>
              </a:rPr>
              <a:t>March (India) and November (US) queues</a:t>
            </a:r>
          </a:p>
        </p:txBody>
      </p:sp>
      <p:sp>
        <p:nvSpPr>
          <p:cNvPr id="19" name="TextBox 18"/>
          <p:cNvSpPr txBox="1"/>
          <p:nvPr/>
        </p:nvSpPr>
        <p:spPr>
          <a:xfrm>
            <a:off x="9829800" y="3557016"/>
            <a:ext cx="1691640" cy="548640"/>
          </a:xfrm>
          <a:prstGeom prst="rect">
            <a:avLst/>
          </a:prstGeom>
          <a:noFill/>
        </p:spPr>
        <p:txBody>
          <a:bodyPr wrap="square" lIns="0" rIns="0" tIns="18288" bIns="18288" anchor="t">
            <a:spAutoFit/>
          </a:bodyPr>
          <a:lstStyle/>
          <a:p>
            <a:pPr algn="l"/>
            <a:r>
              <a:rPr sz="1200" b="1" i="0">
                <a:solidFill>
                  <a:srgbClr val="0F766E"/>
                </a:solidFill>
                <a:latin typeface="Calibri"/>
              </a:rPr>
              <a:t>No backlog over 1 day</a:t>
            </a:r>
          </a:p>
        </p:txBody>
      </p:sp>
      <p:sp>
        <p:nvSpPr>
          <p:cNvPr id="20" name="Rectangle 19"/>
          <p:cNvSpPr/>
          <p:nvPr/>
        </p:nvSpPr>
        <p:spPr>
          <a:xfrm>
            <a:off x="4480560" y="4306824"/>
            <a:ext cx="7132320" cy="73152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4398264"/>
            <a:ext cx="2743200" cy="548640"/>
          </a:xfrm>
          <a:prstGeom prst="rect">
            <a:avLst/>
          </a:prstGeom>
          <a:noFill/>
        </p:spPr>
        <p:txBody>
          <a:bodyPr wrap="square" lIns="0" rIns="0" tIns="18288" bIns="18288" anchor="t">
            <a:spAutoFit/>
          </a:bodyPr>
          <a:lstStyle/>
          <a:p>
            <a:pPr algn="l"/>
            <a:r>
              <a:rPr sz="1200" b="1" i="0">
                <a:solidFill>
                  <a:srgbClr val="1D2B30"/>
                </a:solidFill>
                <a:latin typeface="Calibri"/>
              </a:rPr>
              <a:t>Employee CSAT on HR answers</a:t>
            </a:r>
          </a:p>
        </p:txBody>
      </p:sp>
      <p:sp>
        <p:nvSpPr>
          <p:cNvPr id="22" name="TextBox 21"/>
          <p:cNvSpPr txBox="1"/>
          <p:nvPr/>
        </p:nvSpPr>
        <p:spPr>
          <a:xfrm>
            <a:off x="7406640" y="4398264"/>
            <a:ext cx="2377440" cy="548640"/>
          </a:xfrm>
          <a:prstGeom prst="rect">
            <a:avLst/>
          </a:prstGeom>
          <a:noFill/>
        </p:spPr>
        <p:txBody>
          <a:bodyPr wrap="square" lIns="0" rIns="0" tIns="18288" bIns="18288" anchor="t">
            <a:spAutoFit/>
          </a:bodyPr>
          <a:lstStyle/>
          <a:p>
            <a:pPr algn="l"/>
            <a:r>
              <a:rPr sz="1050" b="0" i="0">
                <a:solidFill>
                  <a:srgbClr val="5F6B70"/>
                </a:solidFill>
                <a:latin typeface="Calibri"/>
              </a:rPr>
              <a:t>Post-answer survey</a:t>
            </a:r>
          </a:p>
        </p:txBody>
      </p:sp>
      <p:sp>
        <p:nvSpPr>
          <p:cNvPr id="23" name="TextBox 22"/>
          <p:cNvSpPr txBox="1"/>
          <p:nvPr/>
        </p:nvSpPr>
        <p:spPr>
          <a:xfrm>
            <a:off x="9829800" y="4398264"/>
            <a:ext cx="1691640" cy="548640"/>
          </a:xfrm>
          <a:prstGeom prst="rect">
            <a:avLst/>
          </a:prstGeom>
          <a:noFill/>
        </p:spPr>
        <p:txBody>
          <a:bodyPr wrap="square" lIns="0" rIns="0" tIns="18288" bIns="18288" anchor="t">
            <a:spAutoFit/>
          </a:bodyPr>
          <a:lstStyle/>
          <a:p>
            <a:pPr algn="l"/>
            <a:r>
              <a:rPr sz="1200" b="1" i="0">
                <a:solidFill>
                  <a:srgbClr val="0F766E"/>
                </a:solidFill>
                <a:latin typeface="Calibri"/>
              </a:rPr>
              <a:t>4.3 / 5 or better</a:t>
            </a:r>
          </a:p>
        </p:txBody>
      </p:sp>
      <p:sp>
        <p:nvSpPr>
          <p:cNvPr id="24" name="Rectangle 23"/>
          <p:cNvSpPr/>
          <p:nvPr/>
        </p:nvSpPr>
        <p:spPr>
          <a:xfrm>
            <a:off x="4480560" y="5212080"/>
            <a:ext cx="7132320" cy="594360"/>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5303520"/>
            <a:ext cx="6766560" cy="457200"/>
          </a:xfrm>
          <a:prstGeom prst="rect">
            <a:avLst/>
          </a:prstGeom>
          <a:noFill/>
        </p:spPr>
        <p:txBody>
          <a:bodyPr wrap="square" lIns="0" rIns="0" tIns="18288" bIns="18288" anchor="t">
            <a:spAutoFit/>
          </a:bodyPr>
          <a:lstStyle/>
          <a:p>
            <a:pPr algn="l"/>
            <a:r>
              <a:rPr sz="1200" b="1" i="0">
                <a:solidFill>
                  <a:srgbClr val="C2463F"/>
                </a:solidFill>
                <a:latin typeface="Calibri"/>
              </a:rPr>
              <a:t>Counter-metric: </a:t>
            </a:r>
            <a:r>
              <a:rPr sz="1200" b="0" i="0">
                <a:solidFill>
                  <a:srgbClr val="1D2B30"/>
                </a:solidFill>
                <a:latin typeface="Calibri"/>
              </a:rPr>
              <a:t>wrong-answer rate in a weekly audit of 100 answers. Above 3% means rollback.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Evals gate every deploy: a failed guardrail blocks the release</a:t>
            </a:r>
          </a:p>
        </p:txBody>
      </p:sp>
      <p:graphicFrame>
        <p:nvGraphicFramePr>
          <p:cNvPr id="3" name="Chart 2"/>
          <p:cNvGraphicFramePr>
            <a:graphicFrameLocks noGrp="1"/>
          </p:cNvGraphicFramePr>
          <p:nvPr/>
        </p:nvGraphicFramePr>
        <p:xfrm>
          <a:off x="548640" y="1325880"/>
          <a:ext cx="7680960" cy="4526280"/>
        </p:xfrm>
        <a:graphic>
          <a:graphicData uri="http://schemas.openxmlformats.org/drawingml/2006/chart">
            <c:chart xmlns:c="http://schemas.openxmlformats.org/drawingml/2006/chart" r:id="rId3"/>
          </a:graphicData>
        </a:graphic>
      </p:graphicFrame>
      <p:sp>
        <p:nvSpPr>
          <p:cNvPr id="4" name="Rectangle 3"/>
          <p:cNvSpPr/>
          <p:nvPr/>
        </p:nvSpPr>
        <p:spPr>
          <a:xfrm>
            <a:off x="8458200" y="1371600"/>
            <a:ext cx="3154680" cy="201168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22792" y="1503273"/>
            <a:ext cx="2825496" cy="1748332"/>
          </a:xfrm>
          <a:prstGeom prst="rect">
            <a:avLst/>
          </a:prstGeom>
          <a:noFill/>
        </p:spPr>
        <p:txBody>
          <a:bodyPr wrap="square" lIns="0" rIns="0" tIns="18288" bIns="18288" anchor="t">
            <a:spAutoFit/>
          </a:bodyPr>
          <a:lstStyle/>
          <a:p>
            <a:pPr algn="l"/>
            <a:r>
              <a:rPr sz="1300" b="1" i="0">
                <a:solidFill>
                  <a:srgbClr val="0F766E"/>
                </a:solidFill>
                <a:latin typeface="Calibri"/>
              </a:rPr>
              <a:t>Launch gates: 100%</a:t>
            </a:r>
          </a:p>
          <a:p>
            <a:pPr algn="l">
              <a:spcBef>
                <a:spcPts val="400"/>
              </a:spcBef>
            </a:pPr>
            <a:r>
              <a:rPr sz="1150" b="0" i="0">
                <a:solidFill>
                  <a:srgbClr val="1D2B30"/>
                </a:solidFill>
                <a:latin typeface="Calibri"/>
              </a:rPr>
              <a:t>Sensitive hand-off, own-country citations, no superseded versions, grounding and privacy must all be 100% on both sets, or the build fails.</a:t>
            </a:r>
          </a:p>
        </p:txBody>
      </p:sp>
      <p:sp>
        <p:nvSpPr>
          <p:cNvPr id="6" name="Rectangle 5"/>
          <p:cNvSpPr/>
          <p:nvPr/>
        </p:nvSpPr>
        <p:spPr>
          <a:xfrm>
            <a:off x="8458200" y="3566160"/>
            <a:ext cx="3154680" cy="228600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22792" y="3697833"/>
            <a:ext cx="2825496" cy="2022652"/>
          </a:xfrm>
          <a:prstGeom prst="rect">
            <a:avLst/>
          </a:prstGeom>
          <a:noFill/>
        </p:spPr>
        <p:txBody>
          <a:bodyPr wrap="square" lIns="0" rIns="0" tIns="18288" bIns="18288" anchor="t">
            <a:spAutoFit/>
          </a:bodyPr>
          <a:lstStyle/>
          <a:p>
            <a:pPr algn="l"/>
            <a:r>
              <a:rPr sz="1300" b="1" i="0">
                <a:solidFill>
                  <a:srgbClr val="14424C"/>
                </a:solidFill>
                <a:latin typeface="Calibri"/>
              </a:rPr>
              <a:t>Model guard test: 6 / 6</a:t>
            </a:r>
          </a:p>
          <a:p>
            <a:pPr algn="l">
              <a:spcBef>
                <a:spcPts val="400"/>
              </a:spcBef>
            </a:pPr>
            <a:r>
              <a:rPr sz="1150" b="0" i="0">
                <a:solidFill>
                  <a:srgbClr val="1D2B30"/>
                </a:solidFill>
                <a:latin typeface="Calibri"/>
              </a:rPr>
              <a:t>Fake model replies with an invented number, a promise, an old or other-country citation, or no citation are all blocked before an employee sees them.</a:t>
            </a:r>
          </a:p>
        </p:txBody>
      </p:sp>
      <p:sp>
        <p:nvSpPr>
          <p:cNvPr id="8" name="TextBox 7"/>
          <p:cNvSpPr txBox="1"/>
          <p:nvPr/>
        </p:nvSpPr>
        <p:spPr>
          <a:xfrm>
            <a:off x="548640" y="5989320"/>
            <a:ext cx="9509760" cy="274320"/>
          </a:xfrm>
          <a:prstGeom prst="rect">
            <a:avLst/>
          </a:prstGeom>
          <a:noFill/>
        </p:spPr>
        <p:txBody>
          <a:bodyPr wrap="square" lIns="0" rIns="0" tIns="18288" bIns="18288" anchor="t">
            <a:spAutoFit/>
          </a:bodyPr>
          <a:lstStyle/>
          <a:p>
            <a:pPr algn="l"/>
            <a:r>
              <a:rPr sz="900" b="0" i="1">
                <a:solidFill>
                  <a:srgbClr val="5F6B70"/>
                </a:solidFill>
                <a:latin typeface="Calibri"/>
              </a:rPr>
              <a:t>80 labelled questions incl. Hindi, Hinglish, contractor, legal, prompt injection and commitment bait. Held-out set written after tuning.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Risks we design for, and the guardrail for each</a:t>
            </a:r>
          </a:p>
        </p:txBody>
      </p:sp>
      <p:sp>
        <p:nvSpPr>
          <p:cNvPr id="3" name="TextBox 2"/>
          <p:cNvSpPr txBox="1"/>
          <p:nvPr/>
        </p:nvSpPr>
        <p:spPr>
          <a:xfrm>
            <a:off x="548640" y="1325880"/>
            <a:ext cx="3291840" cy="274320"/>
          </a:xfrm>
          <a:prstGeom prst="rect">
            <a:avLst/>
          </a:prstGeom>
          <a:noFill/>
        </p:spPr>
        <p:txBody>
          <a:bodyPr wrap="square" lIns="0" rIns="0" tIns="18288" bIns="18288" anchor="t">
            <a:spAutoFit/>
          </a:bodyPr>
          <a:lstStyle/>
          <a:p>
            <a:pPr algn="l"/>
            <a:r>
              <a:rPr sz="1000" b="1" i="0">
                <a:solidFill>
                  <a:srgbClr val="5F6B70"/>
                </a:solidFill>
                <a:latin typeface="Calibri"/>
              </a:rPr>
              <a:t>RISK</a:t>
            </a:r>
          </a:p>
        </p:txBody>
      </p:sp>
      <p:sp>
        <p:nvSpPr>
          <p:cNvPr id="4" name="TextBox 3"/>
          <p:cNvSpPr txBox="1"/>
          <p:nvPr/>
        </p:nvSpPr>
        <p:spPr>
          <a:xfrm>
            <a:off x="3931920" y="1325880"/>
            <a:ext cx="7315200" cy="274320"/>
          </a:xfrm>
          <a:prstGeom prst="rect">
            <a:avLst/>
          </a:prstGeom>
          <a:noFill/>
        </p:spPr>
        <p:txBody>
          <a:bodyPr wrap="square" lIns="0" rIns="0" tIns="18288" bIns="18288" anchor="t">
            <a:spAutoFit/>
          </a:bodyPr>
          <a:lstStyle/>
          <a:p>
            <a:pPr algn="l"/>
            <a:r>
              <a:rPr sz="1000" b="1" i="0">
                <a:solidFill>
                  <a:srgbClr val="5F6B70"/>
                </a:solidFill>
                <a:latin typeface="Calibri"/>
              </a:rPr>
              <a:t>GUARDRAIL</a:t>
            </a:r>
          </a:p>
        </p:txBody>
      </p:sp>
      <p:sp>
        <p:nvSpPr>
          <p:cNvPr id="5" name="Rectangle 4"/>
          <p:cNvSpPr/>
          <p:nvPr/>
        </p:nvSpPr>
        <p:spPr>
          <a:xfrm>
            <a:off x="548640" y="1645920"/>
            <a:ext cx="3246120" cy="612648"/>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09928"/>
            <a:ext cx="2926080" cy="274320"/>
          </a:xfrm>
          <a:prstGeom prst="rect">
            <a:avLst/>
          </a:prstGeom>
          <a:noFill/>
        </p:spPr>
        <p:txBody>
          <a:bodyPr wrap="square" lIns="0" rIns="0" tIns="18288" bIns="18288" anchor="t">
            <a:spAutoFit/>
          </a:bodyPr>
          <a:lstStyle/>
          <a:p>
            <a:pPr algn="l"/>
            <a:r>
              <a:rPr sz="1200" b="1" i="0">
                <a:solidFill>
                  <a:srgbClr val="C2463F"/>
                </a:solidFill>
                <a:latin typeface="Calibri"/>
              </a:rPr>
              <a:t>Wrong country or old version</a:t>
            </a:r>
          </a:p>
        </p:txBody>
      </p:sp>
      <p:sp>
        <p:nvSpPr>
          <p:cNvPr id="7" name="TextBox 6"/>
          <p:cNvSpPr txBox="1"/>
          <p:nvPr/>
        </p:nvSpPr>
        <p:spPr>
          <a:xfrm>
            <a:off x="731520" y="1975104"/>
            <a:ext cx="2926080" cy="274320"/>
          </a:xfrm>
          <a:prstGeom prst="rect">
            <a:avLst/>
          </a:prstGeom>
          <a:noFill/>
        </p:spPr>
        <p:txBody>
          <a:bodyPr wrap="square" lIns="0" rIns="0" tIns="18288" bIns="18288" anchor="t">
            <a:spAutoFit/>
          </a:bodyPr>
          <a:lstStyle/>
          <a:p>
            <a:pPr algn="l"/>
            <a:r>
              <a:rPr sz="1000" b="0" i="0">
                <a:solidFill>
                  <a:srgbClr val="5F6B70"/>
                </a:solidFill>
                <a:latin typeface="Calibri"/>
              </a:rPr>
              <a:t>The 8% we inherit</a:t>
            </a:r>
          </a:p>
        </p:txBody>
      </p:sp>
      <p:sp>
        <p:nvSpPr>
          <p:cNvPr id="8" name="Rectangle 7"/>
          <p:cNvSpPr/>
          <p:nvPr/>
        </p:nvSpPr>
        <p:spPr>
          <a:xfrm>
            <a:off x="3931920" y="1645920"/>
            <a:ext cx="7680960" cy="612648"/>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737360"/>
            <a:ext cx="7315200" cy="457200"/>
          </a:xfrm>
          <a:prstGeom prst="rect">
            <a:avLst/>
          </a:prstGeom>
          <a:noFill/>
        </p:spPr>
        <p:txBody>
          <a:bodyPr wrap="square" lIns="0" rIns="0" tIns="18288" bIns="18288" anchor="ctr">
            <a:spAutoFit/>
          </a:bodyPr>
          <a:lstStyle/>
          <a:p>
            <a:pPr algn="l"/>
            <a:r>
              <a:rPr sz="1200" b="0" i="0">
                <a:solidFill>
                  <a:srgbClr val="1D2B30"/>
                </a:solidFill>
                <a:latin typeface="Calibri"/>
              </a:rPr>
              <a:t>Eligibility filter in code before ranking; superseded versions removed; 100% eval gate</a:t>
            </a:r>
          </a:p>
        </p:txBody>
      </p:sp>
      <p:sp>
        <p:nvSpPr>
          <p:cNvPr id="10" name="Rectangle 9"/>
          <p:cNvSpPr/>
          <p:nvPr/>
        </p:nvSpPr>
        <p:spPr>
          <a:xfrm>
            <a:off x="548640" y="2350008"/>
            <a:ext cx="3246120" cy="612648"/>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14016"/>
            <a:ext cx="2926080" cy="274320"/>
          </a:xfrm>
          <a:prstGeom prst="rect">
            <a:avLst/>
          </a:prstGeom>
          <a:noFill/>
        </p:spPr>
        <p:txBody>
          <a:bodyPr wrap="square" lIns="0" rIns="0" tIns="18288" bIns="18288" anchor="t">
            <a:spAutoFit/>
          </a:bodyPr>
          <a:lstStyle/>
          <a:p>
            <a:pPr algn="l"/>
            <a:r>
              <a:rPr sz="1200" b="1" i="0">
                <a:solidFill>
                  <a:srgbClr val="C2463F"/>
                </a:solidFill>
                <a:latin typeface="Calibri"/>
              </a:rPr>
              <a:t>Answer reads as a promise</a:t>
            </a:r>
          </a:p>
        </p:txBody>
      </p:sp>
      <p:sp>
        <p:nvSpPr>
          <p:cNvPr id="12" name="TextBox 11"/>
          <p:cNvSpPr txBox="1"/>
          <p:nvPr/>
        </p:nvSpPr>
        <p:spPr>
          <a:xfrm>
            <a:off x="731520" y="2679192"/>
            <a:ext cx="2926080" cy="274320"/>
          </a:xfrm>
          <a:prstGeom prst="rect">
            <a:avLst/>
          </a:prstGeom>
          <a:noFill/>
        </p:spPr>
        <p:txBody>
          <a:bodyPr wrap="square" lIns="0" rIns="0" tIns="18288" bIns="18288" anchor="t">
            <a:spAutoFit/>
          </a:bodyPr>
          <a:lstStyle/>
          <a:p>
            <a:pPr algn="l"/>
            <a:r>
              <a:rPr sz="1000" b="0" i="0">
                <a:solidFill>
                  <a:srgbClr val="5F6B70"/>
                </a:solidFill>
                <a:latin typeface="Calibri"/>
              </a:rPr>
              <a:t>Legal, especially UK</a:t>
            </a:r>
          </a:p>
        </p:txBody>
      </p:sp>
      <p:sp>
        <p:nvSpPr>
          <p:cNvPr id="13" name="Rectangle 12"/>
          <p:cNvSpPr/>
          <p:nvPr/>
        </p:nvSpPr>
        <p:spPr>
          <a:xfrm>
            <a:off x="3931920" y="2350008"/>
            <a:ext cx="7680960" cy="612648"/>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2441448"/>
            <a:ext cx="7315200" cy="457200"/>
          </a:xfrm>
          <a:prstGeom prst="rect">
            <a:avLst/>
          </a:prstGeom>
          <a:noFill/>
        </p:spPr>
        <p:txBody>
          <a:bodyPr wrap="square" lIns="0" rIns="0" tIns="18288" bIns="18288" anchor="ctr">
            <a:spAutoFit/>
          </a:bodyPr>
          <a:lstStyle/>
          <a:p>
            <a:pPr algn="l"/>
            <a:r>
              <a:rPr sz="1200" b="0" i="0">
                <a:solidFill>
                  <a:srgbClr val="1D2B30"/>
                </a:solidFill>
                <a:latin typeface="Calibri"/>
              </a:rPr>
              <a:t>No-commitment wording on every answer; 'your contract applies' in the UK; guard blocks promises</a:t>
            </a:r>
          </a:p>
        </p:txBody>
      </p:sp>
      <p:sp>
        <p:nvSpPr>
          <p:cNvPr id="15" name="Rectangle 14"/>
          <p:cNvSpPr/>
          <p:nvPr/>
        </p:nvSpPr>
        <p:spPr>
          <a:xfrm>
            <a:off x="548640" y="3054096"/>
            <a:ext cx="3246120" cy="612648"/>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118103"/>
            <a:ext cx="2926080" cy="274320"/>
          </a:xfrm>
          <a:prstGeom prst="rect">
            <a:avLst/>
          </a:prstGeom>
          <a:noFill/>
        </p:spPr>
        <p:txBody>
          <a:bodyPr wrap="square" lIns="0" rIns="0" tIns="18288" bIns="18288" anchor="t">
            <a:spAutoFit/>
          </a:bodyPr>
          <a:lstStyle/>
          <a:p>
            <a:pPr algn="l"/>
            <a:r>
              <a:rPr sz="1200" b="1" i="0">
                <a:solidFill>
                  <a:srgbClr val="C2463F"/>
                </a:solidFill>
                <a:latin typeface="Calibri"/>
              </a:rPr>
              <a:t>Sensitive message mishandled</a:t>
            </a:r>
          </a:p>
        </p:txBody>
      </p:sp>
      <p:sp>
        <p:nvSpPr>
          <p:cNvPr id="17" name="TextBox 16"/>
          <p:cNvSpPr txBox="1"/>
          <p:nvPr/>
        </p:nvSpPr>
        <p:spPr>
          <a:xfrm>
            <a:off x="731520" y="3383279"/>
            <a:ext cx="2926080" cy="274320"/>
          </a:xfrm>
          <a:prstGeom prst="rect">
            <a:avLst/>
          </a:prstGeom>
          <a:noFill/>
        </p:spPr>
        <p:txBody>
          <a:bodyPr wrap="square" lIns="0" rIns="0" tIns="18288" bIns="18288" anchor="t">
            <a:spAutoFit/>
          </a:bodyPr>
          <a:lstStyle/>
          <a:p>
            <a:pPr algn="l"/>
            <a:r>
              <a:rPr sz="1000" b="0" i="0">
                <a:solidFill>
                  <a:srgbClr val="5F6B70"/>
                </a:solidFill>
                <a:latin typeface="Calibri"/>
              </a:rPr>
              <a:t>Harassment, health, crisis</a:t>
            </a:r>
          </a:p>
        </p:txBody>
      </p:sp>
      <p:sp>
        <p:nvSpPr>
          <p:cNvPr id="18" name="Rectangle 17"/>
          <p:cNvSpPr/>
          <p:nvPr/>
        </p:nvSpPr>
        <p:spPr>
          <a:xfrm>
            <a:off x="3931920" y="3054096"/>
            <a:ext cx="7680960" cy="612648"/>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3145536"/>
            <a:ext cx="7315200" cy="457200"/>
          </a:xfrm>
          <a:prstGeom prst="rect">
            <a:avLst/>
          </a:prstGeom>
          <a:noFill/>
        </p:spPr>
        <p:txBody>
          <a:bodyPr wrap="square" lIns="0" rIns="0" tIns="18288" bIns="18288" anchor="ctr">
            <a:spAutoFit/>
          </a:bodyPr>
          <a:lstStyle/>
          <a:p>
            <a:pPr algn="l"/>
            <a:r>
              <a:rPr sz="1200" b="0" i="0">
                <a:solidFill>
                  <a:srgbClr val="1D2B30"/>
                </a:solidFill>
                <a:latin typeface="Calibri"/>
              </a:rPr>
              <a:t>Rules before AI; never sent to a model; restricted Employee Relations queue; crisis sent at once</a:t>
            </a:r>
          </a:p>
        </p:txBody>
      </p:sp>
      <p:sp>
        <p:nvSpPr>
          <p:cNvPr id="20" name="Rectangle 19"/>
          <p:cNvSpPr/>
          <p:nvPr/>
        </p:nvSpPr>
        <p:spPr>
          <a:xfrm>
            <a:off x="548640" y="3758184"/>
            <a:ext cx="3246120" cy="612648"/>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822192"/>
            <a:ext cx="2926080" cy="274320"/>
          </a:xfrm>
          <a:prstGeom prst="rect">
            <a:avLst/>
          </a:prstGeom>
          <a:noFill/>
        </p:spPr>
        <p:txBody>
          <a:bodyPr wrap="square" lIns="0" rIns="0" tIns="18288" bIns="18288" anchor="t">
            <a:spAutoFit/>
          </a:bodyPr>
          <a:lstStyle/>
          <a:p>
            <a:pPr algn="l"/>
            <a:r>
              <a:rPr sz="1200" b="1" i="0">
                <a:solidFill>
                  <a:srgbClr val="C2463F"/>
                </a:solidFill>
                <a:latin typeface="Calibri"/>
              </a:rPr>
              <a:t>Invented numbers</a:t>
            </a:r>
          </a:p>
        </p:txBody>
      </p:sp>
      <p:sp>
        <p:nvSpPr>
          <p:cNvPr id="22" name="TextBox 21"/>
          <p:cNvSpPr txBox="1"/>
          <p:nvPr/>
        </p:nvSpPr>
        <p:spPr>
          <a:xfrm>
            <a:off x="731520" y="4087368"/>
            <a:ext cx="2926080" cy="274320"/>
          </a:xfrm>
          <a:prstGeom prst="rect">
            <a:avLst/>
          </a:prstGeom>
          <a:noFill/>
        </p:spPr>
        <p:txBody>
          <a:bodyPr wrap="square" lIns="0" rIns="0" tIns="18288" bIns="18288" anchor="t">
            <a:spAutoFit/>
          </a:bodyPr>
          <a:lstStyle/>
          <a:p>
            <a:pPr algn="l"/>
            <a:r>
              <a:rPr sz="1000" b="0" i="0">
                <a:solidFill>
                  <a:srgbClr val="5F6B70"/>
                </a:solidFill>
                <a:latin typeface="Calibri"/>
              </a:rPr>
              <a:t>Hallucination</a:t>
            </a:r>
          </a:p>
        </p:txBody>
      </p:sp>
      <p:sp>
        <p:nvSpPr>
          <p:cNvPr id="23" name="Rectangle 22"/>
          <p:cNvSpPr/>
          <p:nvPr/>
        </p:nvSpPr>
        <p:spPr>
          <a:xfrm>
            <a:off x="3931920" y="3758184"/>
            <a:ext cx="7680960" cy="612648"/>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3849624"/>
            <a:ext cx="7315200" cy="457200"/>
          </a:xfrm>
          <a:prstGeom prst="rect">
            <a:avLst/>
          </a:prstGeom>
          <a:noFill/>
        </p:spPr>
        <p:txBody>
          <a:bodyPr wrap="square" lIns="0" rIns="0" tIns="18288" bIns="18288" anchor="ctr">
            <a:spAutoFit/>
          </a:bodyPr>
          <a:lstStyle/>
          <a:p>
            <a:pPr algn="l"/>
            <a:r>
              <a:rPr sz="1200" b="0" i="0">
                <a:solidFill>
                  <a:srgbClr val="1D2B30"/>
                </a:solidFill>
                <a:latin typeface="Calibri"/>
              </a:rPr>
              <a:t>Every number must appear in a cited section, else AskHR quotes the policy instead</a:t>
            </a:r>
          </a:p>
        </p:txBody>
      </p:sp>
      <p:sp>
        <p:nvSpPr>
          <p:cNvPr id="25" name="Rectangle 24"/>
          <p:cNvSpPr/>
          <p:nvPr/>
        </p:nvSpPr>
        <p:spPr>
          <a:xfrm>
            <a:off x="548640" y="4462272"/>
            <a:ext cx="3246120" cy="612648"/>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526280"/>
            <a:ext cx="2926080" cy="274320"/>
          </a:xfrm>
          <a:prstGeom prst="rect">
            <a:avLst/>
          </a:prstGeom>
          <a:noFill/>
        </p:spPr>
        <p:txBody>
          <a:bodyPr wrap="square" lIns="0" rIns="0" tIns="18288" bIns="18288" anchor="t">
            <a:spAutoFit/>
          </a:bodyPr>
          <a:lstStyle/>
          <a:p>
            <a:pPr algn="l"/>
            <a:r>
              <a:rPr sz="1200" b="1" i="0">
                <a:solidFill>
                  <a:srgbClr val="C2463F"/>
                </a:solidFill>
                <a:latin typeface="Calibri"/>
              </a:rPr>
              <a:t>Personal data leaks</a:t>
            </a:r>
          </a:p>
        </p:txBody>
      </p:sp>
      <p:sp>
        <p:nvSpPr>
          <p:cNvPr id="27" name="TextBox 26"/>
          <p:cNvSpPr txBox="1"/>
          <p:nvPr/>
        </p:nvSpPr>
        <p:spPr>
          <a:xfrm>
            <a:off x="731520" y="4791456"/>
            <a:ext cx="2926080" cy="274320"/>
          </a:xfrm>
          <a:prstGeom prst="rect">
            <a:avLst/>
          </a:prstGeom>
          <a:noFill/>
        </p:spPr>
        <p:txBody>
          <a:bodyPr wrap="square" lIns="0" rIns="0" tIns="18288" bIns="18288" anchor="t">
            <a:spAutoFit/>
          </a:bodyPr>
          <a:lstStyle/>
          <a:p>
            <a:pPr algn="l"/>
            <a:r>
              <a:rPr sz="1000" b="0" i="0">
                <a:solidFill>
                  <a:srgbClr val="5F6B70"/>
                </a:solidFill>
                <a:latin typeface="Calibri"/>
              </a:rPr>
              <a:t>UK GDPR, India DPDP</a:t>
            </a:r>
          </a:p>
        </p:txBody>
      </p:sp>
      <p:sp>
        <p:nvSpPr>
          <p:cNvPr id="28" name="Rectangle 27"/>
          <p:cNvSpPr/>
          <p:nvPr/>
        </p:nvSpPr>
        <p:spPr>
          <a:xfrm>
            <a:off x="3931920" y="4462272"/>
            <a:ext cx="7680960" cy="612648"/>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0" y="4553712"/>
            <a:ext cx="7315200" cy="457200"/>
          </a:xfrm>
          <a:prstGeom prst="rect">
            <a:avLst/>
          </a:prstGeom>
          <a:noFill/>
        </p:spPr>
        <p:txBody>
          <a:bodyPr wrap="square" lIns="0" rIns="0" tIns="18288" bIns="18288" anchor="ctr">
            <a:spAutoFit/>
          </a:bodyPr>
          <a:lstStyle/>
          <a:p>
            <a:pPr algn="l"/>
            <a:r>
              <a:rPr sz="1200" b="0" i="0">
                <a:solidFill>
                  <a:srgbClr val="1D2B30"/>
                </a:solidFill>
                <a:latin typeface="Calibri"/>
              </a:rPr>
              <a:t>Identifiers and health terms removed from logs; approved vendors only; 90-day retention</a:t>
            </a:r>
          </a:p>
        </p:txBody>
      </p:sp>
      <p:sp>
        <p:nvSpPr>
          <p:cNvPr id="30" name="Rectangle 29"/>
          <p:cNvSpPr/>
          <p:nvPr/>
        </p:nvSpPr>
        <p:spPr>
          <a:xfrm>
            <a:off x="548640" y="5166360"/>
            <a:ext cx="3246120" cy="612648"/>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230368"/>
            <a:ext cx="2926080" cy="274320"/>
          </a:xfrm>
          <a:prstGeom prst="rect">
            <a:avLst/>
          </a:prstGeom>
          <a:noFill/>
        </p:spPr>
        <p:txBody>
          <a:bodyPr wrap="square" lIns="0" rIns="0" tIns="18288" bIns="18288" anchor="t">
            <a:spAutoFit/>
          </a:bodyPr>
          <a:lstStyle/>
          <a:p>
            <a:pPr algn="l"/>
            <a:r>
              <a:rPr sz="1200" b="1" i="0">
                <a:solidFill>
                  <a:srgbClr val="C2463F"/>
                </a:solidFill>
                <a:latin typeface="Calibri"/>
              </a:rPr>
              <a:t>HRBPs lose trust</a:t>
            </a:r>
          </a:p>
        </p:txBody>
      </p:sp>
      <p:sp>
        <p:nvSpPr>
          <p:cNvPr id="32" name="TextBox 31"/>
          <p:cNvSpPr txBox="1"/>
          <p:nvPr/>
        </p:nvSpPr>
        <p:spPr>
          <a:xfrm>
            <a:off x="731520" y="5495544"/>
            <a:ext cx="2926080" cy="274320"/>
          </a:xfrm>
          <a:prstGeom prst="rect">
            <a:avLst/>
          </a:prstGeom>
          <a:noFill/>
        </p:spPr>
        <p:txBody>
          <a:bodyPr wrap="square" lIns="0" rIns="0" tIns="18288" bIns="18288" anchor="t">
            <a:spAutoFit/>
          </a:bodyPr>
          <a:lstStyle/>
          <a:p>
            <a:pPr algn="l"/>
            <a:r>
              <a:rPr sz="1000" b="0" i="0">
                <a:solidFill>
                  <a:srgbClr val="5F6B70"/>
                </a:solidFill>
                <a:latin typeface="Calibri"/>
              </a:rPr>
              <a:t>Adoption</a:t>
            </a:r>
          </a:p>
        </p:txBody>
      </p:sp>
      <p:sp>
        <p:nvSpPr>
          <p:cNvPr id="33" name="Rectangle 32"/>
          <p:cNvSpPr/>
          <p:nvPr/>
        </p:nvSpPr>
        <p:spPr>
          <a:xfrm>
            <a:off x="3931920" y="5166360"/>
            <a:ext cx="7680960" cy="612648"/>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0" y="5257800"/>
            <a:ext cx="7315200" cy="457200"/>
          </a:xfrm>
          <a:prstGeom prst="rect">
            <a:avLst/>
          </a:prstGeom>
          <a:noFill/>
        </p:spPr>
        <p:txBody>
          <a:bodyPr wrap="square" lIns="0" rIns="0" tIns="18288" bIns="18288" anchor="ctr">
            <a:spAutoFit/>
          </a:bodyPr>
          <a:lstStyle/>
          <a:p>
            <a:pPr algn="l"/>
            <a:r>
              <a:rPr sz="1200" b="0" i="0">
                <a:solidFill>
                  <a:srgbClr val="1D2B30"/>
                </a:solidFill>
                <a:latin typeface="Calibri"/>
              </a:rPr>
              <a:t>Hand-off summaries they accept without re-asking; weekly content-gap report to policy owners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Rollout: India before March, the US before November</a:t>
            </a:r>
          </a:p>
        </p:txBody>
      </p:sp>
      <p:sp>
        <p:nvSpPr>
          <p:cNvPr id="3" name="Rectangle 2"/>
          <p:cNvSpPr/>
          <p:nvPr/>
        </p:nvSpPr>
        <p:spPr>
          <a:xfrm>
            <a:off x="822960" y="2084831"/>
            <a:ext cx="10515600"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192024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5" name="TextBox 4"/>
          <p:cNvSpPr txBox="1"/>
          <p:nvPr/>
        </p:nvSpPr>
        <p:spPr>
          <a:xfrm>
            <a:off x="1143000" y="1874519"/>
            <a:ext cx="2103120" cy="365760"/>
          </a:xfrm>
          <a:prstGeom prst="rect">
            <a:avLst/>
          </a:prstGeom>
          <a:noFill/>
        </p:spPr>
        <p:txBody>
          <a:bodyPr wrap="square" lIns="0" rIns="0" tIns="18288" bIns="18288" anchor="t">
            <a:spAutoFit/>
          </a:bodyPr>
          <a:lstStyle/>
          <a:p>
            <a:pPr algn="l"/>
            <a:r>
              <a:rPr sz="1100" b="1" i="0">
                <a:solidFill>
                  <a:srgbClr val="E8A33D"/>
                </a:solidFill>
                <a:latin typeface="Calibri"/>
              </a:rPr>
              <a:t>Jan 2027</a:t>
            </a:r>
          </a:p>
        </p:txBody>
      </p:sp>
      <p:sp>
        <p:nvSpPr>
          <p:cNvPr id="6" name="Rectangle 5"/>
          <p:cNvSpPr/>
          <p:nvPr/>
        </p:nvSpPr>
        <p:spPr>
          <a:xfrm>
            <a:off x="548640" y="2514600"/>
            <a:ext cx="2606040" cy="274320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651760"/>
            <a:ext cx="2286000" cy="365760"/>
          </a:xfrm>
          <a:prstGeom prst="rect">
            <a:avLst/>
          </a:prstGeom>
          <a:noFill/>
        </p:spPr>
        <p:txBody>
          <a:bodyPr wrap="square" lIns="0" rIns="0" tIns="18288" bIns="18288" anchor="t">
            <a:spAutoFit/>
          </a:bodyPr>
          <a:lstStyle/>
          <a:p>
            <a:pPr algn="l"/>
            <a:r>
              <a:rPr sz="1500" b="1" i="0">
                <a:solidFill>
                  <a:srgbClr val="14424C"/>
                </a:solidFill>
                <a:latin typeface="Cambria"/>
              </a:rPr>
              <a:t>Alpha</a:t>
            </a:r>
          </a:p>
        </p:txBody>
      </p:sp>
      <p:sp>
        <p:nvSpPr>
          <p:cNvPr id="8" name="TextBox 7"/>
          <p:cNvSpPr txBox="1"/>
          <p:nvPr/>
        </p:nvSpPr>
        <p:spPr>
          <a:xfrm>
            <a:off x="731520" y="3108960"/>
            <a:ext cx="2286000" cy="914400"/>
          </a:xfrm>
          <a:prstGeom prst="rect">
            <a:avLst/>
          </a:prstGeom>
          <a:noFill/>
        </p:spPr>
        <p:txBody>
          <a:bodyPr wrap="square" lIns="0" rIns="0" tIns="18288" bIns="18288" anchor="t">
            <a:spAutoFit/>
          </a:bodyPr>
          <a:lstStyle/>
          <a:p>
            <a:pPr algn="l"/>
            <a:r>
              <a:rPr sz="1150" b="0" i="0">
                <a:solidFill>
                  <a:srgbClr val="1D2B30"/>
                </a:solidFill>
                <a:latin typeface="Calibri"/>
              </a:rPr>
              <a:t>12 HR partners and 3 country leads, 2 weeks on real questions</a:t>
            </a:r>
          </a:p>
        </p:txBody>
      </p:sp>
      <p:sp>
        <p:nvSpPr>
          <p:cNvPr id="9" name="TextBox 8"/>
          <p:cNvSpPr txBox="1"/>
          <p:nvPr/>
        </p:nvSpPr>
        <p:spPr>
          <a:xfrm>
            <a:off x="731520" y="4069080"/>
            <a:ext cx="2286000" cy="274320"/>
          </a:xfrm>
          <a:prstGeom prst="rect">
            <a:avLst/>
          </a:prstGeom>
          <a:noFill/>
        </p:spPr>
        <p:txBody>
          <a:bodyPr wrap="square" lIns="0" rIns="0" tIns="18288" bIns="18288" anchor="t">
            <a:spAutoFit/>
          </a:bodyPr>
          <a:lstStyle/>
          <a:p>
            <a:pPr algn="l"/>
            <a:r>
              <a:rPr sz="950" b="1" i="0">
                <a:solidFill>
                  <a:srgbClr val="0F766E"/>
                </a:solidFill>
                <a:latin typeface="Calibri"/>
              </a:rPr>
              <a:t>GATE</a:t>
            </a:r>
          </a:p>
        </p:txBody>
      </p:sp>
      <p:sp>
        <p:nvSpPr>
          <p:cNvPr id="10" name="TextBox 9"/>
          <p:cNvSpPr txBox="1"/>
          <p:nvPr/>
        </p:nvSpPr>
        <p:spPr>
          <a:xfrm>
            <a:off x="731520" y="4343400"/>
            <a:ext cx="2286000" cy="1371600"/>
          </a:xfrm>
          <a:prstGeom prst="rect">
            <a:avLst/>
          </a:prstGeom>
          <a:noFill/>
        </p:spPr>
        <p:txBody>
          <a:bodyPr wrap="square" lIns="0" rIns="0" tIns="18288" bIns="18288" anchor="t">
            <a:spAutoFit/>
          </a:bodyPr>
          <a:lstStyle/>
          <a:p>
            <a:pPr algn="l"/>
            <a:r>
              <a:rPr sz="1100" b="0" i="0">
                <a:solidFill>
                  <a:srgbClr val="1D2B30"/>
                </a:solidFill>
                <a:latin typeface="Calibri"/>
              </a:rPr>
              <a:t>95% of 150 answers rated correct; Legal signs off wording</a:t>
            </a:r>
          </a:p>
        </p:txBody>
      </p:sp>
      <p:sp>
        <p:nvSpPr>
          <p:cNvPr id="11" name="Oval 10"/>
          <p:cNvSpPr/>
          <p:nvPr/>
        </p:nvSpPr>
        <p:spPr>
          <a:xfrm>
            <a:off x="3429000" y="192024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2" name="TextBox 11"/>
          <p:cNvSpPr txBox="1"/>
          <p:nvPr/>
        </p:nvSpPr>
        <p:spPr>
          <a:xfrm>
            <a:off x="3931920" y="1874519"/>
            <a:ext cx="2103120" cy="365760"/>
          </a:xfrm>
          <a:prstGeom prst="rect">
            <a:avLst/>
          </a:prstGeom>
          <a:noFill/>
        </p:spPr>
        <p:txBody>
          <a:bodyPr wrap="square" lIns="0" rIns="0" tIns="18288" bIns="18288" anchor="t">
            <a:spAutoFit/>
          </a:bodyPr>
          <a:lstStyle/>
          <a:p>
            <a:pPr algn="l"/>
            <a:r>
              <a:rPr sz="1100" b="1" i="0">
                <a:solidFill>
                  <a:srgbClr val="E8A33D"/>
                </a:solidFill>
                <a:latin typeface="Calibri"/>
              </a:rPr>
              <a:t>Feb 2027</a:t>
            </a:r>
          </a:p>
        </p:txBody>
      </p:sp>
      <p:sp>
        <p:nvSpPr>
          <p:cNvPr id="13" name="Rectangle 12"/>
          <p:cNvSpPr/>
          <p:nvPr/>
        </p:nvSpPr>
        <p:spPr>
          <a:xfrm>
            <a:off x="3337560" y="2514600"/>
            <a:ext cx="2606040" cy="274320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2651760"/>
            <a:ext cx="2286000" cy="365760"/>
          </a:xfrm>
          <a:prstGeom prst="rect">
            <a:avLst/>
          </a:prstGeom>
          <a:noFill/>
        </p:spPr>
        <p:txBody>
          <a:bodyPr wrap="square" lIns="0" rIns="0" tIns="18288" bIns="18288" anchor="t">
            <a:spAutoFit/>
          </a:bodyPr>
          <a:lstStyle/>
          <a:p>
            <a:pPr algn="l"/>
            <a:r>
              <a:rPr sz="1500" b="1" i="0">
                <a:solidFill>
                  <a:srgbClr val="14424C"/>
                </a:solidFill>
                <a:latin typeface="Cambria"/>
              </a:rPr>
              <a:t>India beta</a:t>
            </a:r>
          </a:p>
        </p:txBody>
      </p:sp>
      <p:sp>
        <p:nvSpPr>
          <p:cNvPr id="15" name="TextBox 14"/>
          <p:cNvSpPr txBox="1"/>
          <p:nvPr/>
        </p:nvSpPr>
        <p:spPr>
          <a:xfrm>
            <a:off x="3520440" y="3108960"/>
            <a:ext cx="2286000" cy="914400"/>
          </a:xfrm>
          <a:prstGeom prst="rect">
            <a:avLst/>
          </a:prstGeom>
          <a:noFill/>
        </p:spPr>
        <p:txBody>
          <a:bodyPr wrap="square" lIns="0" rIns="0" tIns="18288" bIns="18288" anchor="t">
            <a:spAutoFit/>
          </a:bodyPr>
          <a:lstStyle/>
          <a:p>
            <a:pPr algn="l"/>
            <a:r>
              <a:rPr sz="1150" b="0" i="0">
                <a:solidFill>
                  <a:srgbClr val="1D2B30"/>
                </a:solidFill>
                <a:latin typeface="Calibri"/>
              </a:rPr>
              <a:t>500 employees in Bengaluru</a:t>
            </a:r>
          </a:p>
        </p:txBody>
      </p:sp>
      <p:sp>
        <p:nvSpPr>
          <p:cNvPr id="16" name="TextBox 15"/>
          <p:cNvSpPr txBox="1"/>
          <p:nvPr/>
        </p:nvSpPr>
        <p:spPr>
          <a:xfrm>
            <a:off x="3520440" y="4069080"/>
            <a:ext cx="2286000" cy="274320"/>
          </a:xfrm>
          <a:prstGeom prst="rect">
            <a:avLst/>
          </a:prstGeom>
          <a:noFill/>
        </p:spPr>
        <p:txBody>
          <a:bodyPr wrap="square" lIns="0" rIns="0" tIns="18288" bIns="18288" anchor="t">
            <a:spAutoFit/>
          </a:bodyPr>
          <a:lstStyle/>
          <a:p>
            <a:pPr algn="l"/>
            <a:r>
              <a:rPr sz="950" b="1" i="0">
                <a:solidFill>
                  <a:srgbClr val="0F766E"/>
                </a:solidFill>
                <a:latin typeface="Calibri"/>
              </a:rPr>
              <a:t>GATE</a:t>
            </a:r>
          </a:p>
        </p:txBody>
      </p:sp>
      <p:sp>
        <p:nvSpPr>
          <p:cNvPr id="17" name="TextBox 16"/>
          <p:cNvSpPr txBox="1"/>
          <p:nvPr/>
        </p:nvSpPr>
        <p:spPr>
          <a:xfrm>
            <a:off x="3520440" y="4343400"/>
            <a:ext cx="2286000" cy="1371600"/>
          </a:xfrm>
          <a:prstGeom prst="rect">
            <a:avLst/>
          </a:prstGeom>
          <a:noFill/>
        </p:spPr>
        <p:txBody>
          <a:bodyPr wrap="square" lIns="0" rIns="0" tIns="18288" bIns="18288" anchor="t">
            <a:spAutoFit/>
          </a:bodyPr>
          <a:lstStyle/>
          <a:p>
            <a:pPr algn="l"/>
            <a:r>
              <a:rPr sz="1100" b="0" i="0">
                <a:solidFill>
                  <a:srgbClr val="1D2B30"/>
                </a:solidFill>
                <a:latin typeface="Calibri"/>
              </a:rPr>
              <a:t>Wrong answers under 1%; 100% sensitive hand-off; 80% helpful</a:t>
            </a:r>
          </a:p>
        </p:txBody>
      </p:sp>
      <p:sp>
        <p:nvSpPr>
          <p:cNvPr id="18" name="Oval 17"/>
          <p:cNvSpPr/>
          <p:nvPr/>
        </p:nvSpPr>
        <p:spPr>
          <a:xfrm>
            <a:off x="6217919" y="192024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9" name="TextBox 18"/>
          <p:cNvSpPr txBox="1"/>
          <p:nvPr/>
        </p:nvSpPr>
        <p:spPr>
          <a:xfrm>
            <a:off x="6720840" y="1874519"/>
            <a:ext cx="2103120" cy="365760"/>
          </a:xfrm>
          <a:prstGeom prst="rect">
            <a:avLst/>
          </a:prstGeom>
          <a:noFill/>
        </p:spPr>
        <p:txBody>
          <a:bodyPr wrap="square" lIns="0" rIns="0" tIns="18288" bIns="18288" anchor="t">
            <a:spAutoFit/>
          </a:bodyPr>
          <a:lstStyle/>
          <a:p>
            <a:pPr algn="l"/>
            <a:r>
              <a:rPr sz="1100" b="1" i="0">
                <a:solidFill>
                  <a:srgbClr val="E8A33D"/>
                </a:solidFill>
                <a:latin typeface="Calibri"/>
              </a:rPr>
              <a:t>Mar to Apr 2027</a:t>
            </a:r>
          </a:p>
        </p:txBody>
      </p:sp>
      <p:sp>
        <p:nvSpPr>
          <p:cNvPr id="20" name="Rectangle 19"/>
          <p:cNvSpPr/>
          <p:nvPr/>
        </p:nvSpPr>
        <p:spPr>
          <a:xfrm>
            <a:off x="6126479" y="2514600"/>
            <a:ext cx="2606040" cy="274320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2651760"/>
            <a:ext cx="2286000" cy="365760"/>
          </a:xfrm>
          <a:prstGeom prst="rect">
            <a:avLst/>
          </a:prstGeom>
          <a:noFill/>
        </p:spPr>
        <p:txBody>
          <a:bodyPr wrap="square" lIns="0" rIns="0" tIns="18288" bIns="18288" anchor="t">
            <a:spAutoFit/>
          </a:bodyPr>
          <a:lstStyle/>
          <a:p>
            <a:pPr algn="l"/>
            <a:r>
              <a:rPr sz="1500" b="1" i="0">
                <a:solidFill>
                  <a:srgbClr val="14424C"/>
                </a:solidFill>
                <a:latin typeface="Cambria"/>
              </a:rPr>
              <a:t>Phased rollout</a:t>
            </a:r>
          </a:p>
        </p:txBody>
      </p:sp>
      <p:sp>
        <p:nvSpPr>
          <p:cNvPr id="22" name="TextBox 21"/>
          <p:cNvSpPr txBox="1"/>
          <p:nvPr/>
        </p:nvSpPr>
        <p:spPr>
          <a:xfrm>
            <a:off x="6309359" y="3108960"/>
            <a:ext cx="2286000" cy="914400"/>
          </a:xfrm>
          <a:prstGeom prst="rect">
            <a:avLst/>
          </a:prstGeom>
          <a:noFill/>
        </p:spPr>
        <p:txBody>
          <a:bodyPr wrap="square" lIns="0" rIns="0" tIns="18288" bIns="18288" anchor="t">
            <a:spAutoFit/>
          </a:bodyPr>
          <a:lstStyle/>
          <a:p>
            <a:pPr algn="l"/>
            <a:r>
              <a:rPr sz="1150" b="0" i="0">
                <a:solidFill>
                  <a:srgbClr val="1D2B30"/>
                </a:solidFill>
                <a:latin typeface="Calibri"/>
              </a:rPr>
              <a:t>All India, then UK, then US</a:t>
            </a:r>
          </a:p>
        </p:txBody>
      </p:sp>
      <p:sp>
        <p:nvSpPr>
          <p:cNvPr id="23" name="TextBox 22"/>
          <p:cNvSpPr txBox="1"/>
          <p:nvPr/>
        </p:nvSpPr>
        <p:spPr>
          <a:xfrm>
            <a:off x="6309359" y="4069080"/>
            <a:ext cx="2286000" cy="274320"/>
          </a:xfrm>
          <a:prstGeom prst="rect">
            <a:avLst/>
          </a:prstGeom>
          <a:noFill/>
        </p:spPr>
        <p:txBody>
          <a:bodyPr wrap="square" lIns="0" rIns="0" tIns="18288" bIns="18288" anchor="t">
            <a:spAutoFit/>
          </a:bodyPr>
          <a:lstStyle/>
          <a:p>
            <a:pPr algn="l"/>
            <a:r>
              <a:rPr sz="950" b="1" i="0">
                <a:solidFill>
                  <a:srgbClr val="0F766E"/>
                </a:solidFill>
                <a:latin typeface="Calibri"/>
              </a:rPr>
              <a:t>GATE</a:t>
            </a:r>
          </a:p>
        </p:txBody>
      </p:sp>
      <p:sp>
        <p:nvSpPr>
          <p:cNvPr id="24" name="TextBox 23"/>
          <p:cNvSpPr txBox="1"/>
          <p:nvPr/>
        </p:nvSpPr>
        <p:spPr>
          <a:xfrm>
            <a:off x="6309359" y="4343400"/>
            <a:ext cx="2286000" cy="1371600"/>
          </a:xfrm>
          <a:prstGeom prst="rect">
            <a:avLst/>
          </a:prstGeom>
          <a:noFill/>
        </p:spPr>
        <p:txBody>
          <a:bodyPr wrap="square" lIns="0" rIns="0" tIns="18288" bIns="18288" anchor="t">
            <a:spAutoFit/>
          </a:bodyPr>
          <a:lstStyle/>
          <a:p>
            <a:pPr algn="l"/>
            <a:r>
              <a:rPr sz="1100" b="0" i="0">
                <a:solidFill>
                  <a:srgbClr val="1D2B30"/>
                </a:solidFill>
                <a:latin typeface="Calibri"/>
              </a:rPr>
              <a:t>40% self-service; 80% hand-offs accepted; March peak handled</a:t>
            </a:r>
          </a:p>
        </p:txBody>
      </p:sp>
      <p:sp>
        <p:nvSpPr>
          <p:cNvPr id="25" name="Oval 24"/>
          <p:cNvSpPr/>
          <p:nvPr/>
        </p:nvSpPr>
        <p:spPr>
          <a:xfrm>
            <a:off x="9006839" y="1920240"/>
            <a:ext cx="384048" cy="3840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26" name="TextBox 25"/>
          <p:cNvSpPr txBox="1"/>
          <p:nvPr/>
        </p:nvSpPr>
        <p:spPr>
          <a:xfrm>
            <a:off x="9509759" y="1874519"/>
            <a:ext cx="2103120" cy="365760"/>
          </a:xfrm>
          <a:prstGeom prst="rect">
            <a:avLst/>
          </a:prstGeom>
          <a:noFill/>
        </p:spPr>
        <p:txBody>
          <a:bodyPr wrap="square" lIns="0" rIns="0" tIns="18288" bIns="18288" anchor="t">
            <a:spAutoFit/>
          </a:bodyPr>
          <a:lstStyle/>
          <a:p>
            <a:pPr algn="l"/>
            <a:r>
              <a:rPr sz="1100" b="1" i="0">
                <a:solidFill>
                  <a:srgbClr val="E8A33D"/>
                </a:solidFill>
                <a:latin typeface="Calibri"/>
              </a:rPr>
              <a:t>By Sep 2027</a:t>
            </a:r>
          </a:p>
        </p:txBody>
      </p:sp>
      <p:sp>
        <p:nvSpPr>
          <p:cNvPr id="27" name="Rectangle 26"/>
          <p:cNvSpPr/>
          <p:nvPr/>
        </p:nvSpPr>
        <p:spPr>
          <a:xfrm>
            <a:off x="8915399" y="2514600"/>
            <a:ext cx="2606040" cy="2743200"/>
          </a:xfrm>
          <a:prstGeom prst="rect">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79" y="2651760"/>
            <a:ext cx="2286000" cy="365760"/>
          </a:xfrm>
          <a:prstGeom prst="rect">
            <a:avLst/>
          </a:prstGeom>
          <a:noFill/>
        </p:spPr>
        <p:txBody>
          <a:bodyPr wrap="square" lIns="0" rIns="0" tIns="18288" bIns="18288" anchor="t">
            <a:spAutoFit/>
          </a:bodyPr>
          <a:lstStyle/>
          <a:p>
            <a:pPr algn="l"/>
            <a:r>
              <a:rPr sz="1500" b="1" i="0">
                <a:solidFill>
                  <a:srgbClr val="14424C"/>
                </a:solidFill>
                <a:latin typeface="Cambria"/>
              </a:rPr>
              <a:t>Full release</a:t>
            </a:r>
          </a:p>
        </p:txBody>
      </p:sp>
      <p:sp>
        <p:nvSpPr>
          <p:cNvPr id="29" name="TextBox 28"/>
          <p:cNvSpPr txBox="1"/>
          <p:nvPr/>
        </p:nvSpPr>
        <p:spPr>
          <a:xfrm>
            <a:off x="9098279" y="3108960"/>
            <a:ext cx="2286000" cy="914400"/>
          </a:xfrm>
          <a:prstGeom prst="rect">
            <a:avLst/>
          </a:prstGeom>
          <a:noFill/>
        </p:spPr>
        <p:txBody>
          <a:bodyPr wrap="square" lIns="0" rIns="0" tIns="18288" bIns="18288" anchor="t">
            <a:spAutoFit/>
          </a:bodyPr>
          <a:lstStyle/>
          <a:p>
            <a:pPr algn="l"/>
            <a:r>
              <a:rPr sz="1150" b="0" i="0">
                <a:solidFill>
                  <a:srgbClr val="1D2B30"/>
                </a:solidFill>
                <a:latin typeface="Calibri"/>
              </a:rPr>
              <a:t>6,000 employees and 700 contractors</a:t>
            </a:r>
          </a:p>
        </p:txBody>
      </p:sp>
      <p:sp>
        <p:nvSpPr>
          <p:cNvPr id="30" name="TextBox 29"/>
          <p:cNvSpPr txBox="1"/>
          <p:nvPr/>
        </p:nvSpPr>
        <p:spPr>
          <a:xfrm>
            <a:off x="9098279" y="4069080"/>
            <a:ext cx="2286000" cy="274320"/>
          </a:xfrm>
          <a:prstGeom prst="rect">
            <a:avLst/>
          </a:prstGeom>
          <a:noFill/>
        </p:spPr>
        <p:txBody>
          <a:bodyPr wrap="square" lIns="0" rIns="0" tIns="18288" bIns="18288" anchor="t">
            <a:spAutoFit/>
          </a:bodyPr>
          <a:lstStyle/>
          <a:p>
            <a:pPr algn="l"/>
            <a:r>
              <a:rPr sz="950" b="1" i="0">
                <a:solidFill>
                  <a:srgbClr val="0F766E"/>
                </a:solidFill>
                <a:latin typeface="Calibri"/>
              </a:rPr>
              <a:t>GATE</a:t>
            </a:r>
          </a:p>
        </p:txBody>
      </p:sp>
      <p:sp>
        <p:nvSpPr>
          <p:cNvPr id="31" name="TextBox 30"/>
          <p:cNvSpPr txBox="1"/>
          <p:nvPr/>
        </p:nvSpPr>
        <p:spPr>
          <a:xfrm>
            <a:off x="9098279" y="4343400"/>
            <a:ext cx="2286000" cy="1371600"/>
          </a:xfrm>
          <a:prstGeom prst="rect">
            <a:avLst/>
          </a:prstGeom>
          <a:noFill/>
        </p:spPr>
        <p:txBody>
          <a:bodyPr wrap="square" lIns="0" rIns="0" tIns="18288" bIns="18288" anchor="t">
            <a:spAutoFit/>
          </a:bodyPr>
          <a:lstStyle/>
          <a:p>
            <a:pPr algn="l"/>
            <a:r>
              <a:rPr sz="1100" b="0" i="0">
                <a:solidFill>
                  <a:srgbClr val="1D2B30"/>
                </a:solidFill>
                <a:latin typeface="Calibri"/>
              </a:rPr>
              <a:t>North Star trending to 60%; balance lookup approved by Security</a:t>
            </a:r>
          </a:p>
        </p:txBody>
      </p:sp>
      <p:sp>
        <p:nvSpPr>
          <p:cNvPr id="32" name="TextBox 31"/>
          <p:cNvSpPr txBox="1"/>
          <p:nvPr/>
        </p:nvSpPr>
        <p:spPr>
          <a:xfrm>
            <a:off x="548640" y="1325880"/>
            <a:ext cx="10972800" cy="365760"/>
          </a:xfrm>
          <a:prstGeom prst="rect">
            <a:avLst/>
          </a:prstGeom>
          <a:noFill/>
        </p:spPr>
        <p:txBody>
          <a:bodyPr wrap="square" lIns="0" rIns="0" tIns="18288" bIns="18288" anchor="t">
            <a:spAutoFit/>
          </a:bodyPr>
          <a:lstStyle/>
          <a:p>
            <a:pPr algn="l"/>
            <a:r>
              <a:rPr sz="1200" b="0" i="0">
                <a:solidFill>
                  <a:srgbClr val="5F6B70"/>
                </a:solidFill>
                <a:latin typeface="Calibri"/>
              </a:rPr>
              <a:t>PRD sign-off 13 Nov 2026. Build sprints to 8 Jan 2027 with the eval gate in CI.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Next: three decisions to start the alpha</a:t>
            </a:r>
          </a:p>
        </p:txBody>
      </p:sp>
      <p:sp>
        <p:nvSpPr>
          <p:cNvPr id="3" name="Text Placeholder 2"/>
          <p:cNvSpPr>
            <a:spLocks noGrp="1"/>
          </p:cNvSpPr>
          <p:nvPr>
            <p:ph type="body" idx="101"/>
          </p:nvPr>
        </p:nvSpPr>
        <p:spPr/>
        <p:txBody>
          <a:bodyPr/>
          <a:lstStyle/>
          <a:p>
            <a:r>
              <a:t>1. Approve xAI and Anthropic (zero data retention), or name an approved alternative.</a:t>
            </a:r>
          </a:p>
          <a:p>
            <a:r>
              <a:t>2. Name one publishing owner per policy document in each country.</a:t>
            </a:r>
          </a:p>
          <a:p>
            <a:r>
              <a:t>3. Legal to approve the no-commitment wording for India, UK and US.</a:t>
            </a:r>
          </a:p>
        </p:txBody>
      </p:sp>
      <p:sp>
        <p:nvSpPr>
          <p:cNvPr id="4" name="TextBox 3"/>
          <p:cNvSpPr txBox="1"/>
          <p:nvPr/>
        </p:nvSpPr>
        <p:spPr>
          <a:xfrm>
            <a:off x="731520" y="5623560"/>
            <a:ext cx="7315200" cy="548640"/>
          </a:xfrm>
          <a:prstGeom prst="rect">
            <a:avLst/>
          </a:prstGeom>
          <a:noFill/>
        </p:spPr>
        <p:txBody>
          <a:bodyPr wrap="square" lIns="0" rIns="0" tIns="18288" bIns="18288" anchor="t">
            <a:spAutoFit/>
          </a:bodyPr>
          <a:lstStyle/>
          <a:p>
            <a:pPr algn="l"/>
            <a:r>
              <a:rPr sz="1200" b="0" i="0">
                <a:solidFill>
                  <a:srgbClr val="FFFFFF"/>
                </a:solidFill>
                <a:latin typeface="Calibri"/>
              </a:rPr>
              <a:t>Live prototype: askhr-policy-assistant.vercel.app</a:t>
            </a:r>
          </a:p>
          <a:p>
            <a:pPr algn="l">
              <a:spcBef>
                <a:spcPts val="200"/>
              </a:spcBef>
            </a:pPr>
            <a:r>
              <a:rPr sz="1200" b="0" i="0">
                <a:solidFill>
                  <a:srgbClr val="FFFFFF"/>
                </a:solidFill>
                <a:latin typeface="Calibri"/>
              </a:rPr>
              <a:t>Ashokkumar · 27 October 2026</a:t>
            </a:r>
          </a:p>
        </p:txBody>
      </p:sp>
    </p:spTree>
  </p:cSld>
  <p:clrMapOvr>
    <a:masterClrMapping/>
  </p:clrMapOvr>
</p:sld>
</file>

<file path=ppt/theme/theme1.xml><?xml version="1.0" encoding="utf-8"?>
<a:theme xmlns:a="http://schemas.openxmlformats.org/drawingml/2006/main" name="AtliQ Sales and CRM Assistant">
  <a:themeElements>
    <a:clrScheme name="AtliQ Sales and CRM Assistant">
      <a:dk1>
        <a:srgbClr val="1D2B30"/>
      </a:dk1>
      <a:lt1>
        <a:srgbClr val="FFFFFF"/>
      </a:lt1>
      <a:dk2>
        <a:srgbClr val="14424C"/>
      </a:dk2>
      <a:lt2>
        <a:srgbClr val="EEF3F2"/>
      </a:lt2>
      <a:accent1>
        <a:srgbClr val="0F766E"/>
      </a:accent1>
      <a:accent2>
        <a:srgbClr val="E8A33D"/>
      </a:accent2>
      <a:accent3>
        <a:srgbClr val="C2463F"/>
      </a:accent3>
      <a:accent4>
        <a:srgbClr val="5B7C99"/>
      </a:accent4>
      <a:accent5>
        <a:srgbClr val="7A9E7E"/>
      </a:accent5>
      <a:accent6>
        <a:srgbClr val="8A6FB0"/>
      </a:accent6>
      <a:hlink>
        <a:srgbClr val="0F766E"/>
      </a:hlink>
      <a:folHlink>
        <a:srgbClr val="5B7C99"/>
      </a:folHlink>
    </a:clrScheme>
    <a:fontScheme name="AtliQ Sales and CRM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2816</Words>
  <Application>Microsoft Office PowerPoint</Application>
  <PresentationFormat>Widescreen</PresentationFormat>
  <Paragraphs>263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AtliQ Sales and CRM Assistant</vt:lpstr>
      <vt:lpstr>AtliQ Sales and CRM Assistant</vt:lpstr>
      <vt:lpstr>Revenue is leaking from deals AtliQ is already winning</vt:lpstr>
      <vt:lpstr>Discovery: sellers work from a phone, not the CRM</vt:lpstr>
      <vt:lpstr>Five whys lead to one root cause: no shared working memory</vt:lpstr>
      <vt:lpstr>The gap shows up account by account</vt:lpstr>
      <vt:lpstr>We scored 15 AI opportunities and built the top six</vt:lpstr>
      <vt:lpstr>Four features, one rule: propose, never act alone</vt:lpstr>
      <vt:lpstr>8:00 am: Bhavin sees what needs him, ranked and cited</vt:lpstr>
      <vt:lpstr>Grounded in sources, gated by people</vt:lpstr>
      <vt:lpstr>Rules where possible, models where needed</vt:lpstr>
      <vt:lpstr>North Star: Commitments Kept on Time, from 41% to 90%</vt:lpstr>
      <vt:lpstr>The North Star leads; revenue follows</vt:lpstr>
      <vt:lpstr>The prototype already passes the launch evals on the dataset</vt:lpstr>
      <vt:lpstr>The highest risks, and the guardrail for each</vt:lpstr>
      <vt:lpstr>Rollout earns trust in stages</vt:lpstr>
      <vt:lpstr>Next: closed beta with Bhavin, 3 Aug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Sales and CRM Assistant</dc:title>
  <dc:subject>Capstone 1, Step 6 presentation</dc:subject>
  <dc:creator>Ashokkumar</dc:creator>
  <cp:lastModifiedBy>Ashokkumar Burasiya</cp:lastModifiedBy>
  <cp:revision>2</cp:revision>
  <dcterms:created xsi:type="dcterms:W3CDTF">2026-10-08T10:01:01Z</dcterms:created>
  <dcterms:modified xsi:type="dcterms:W3CDTF">2026-10-23T15:10:44Z</dcterms:modified>
</cp:coreProperties>
</file>